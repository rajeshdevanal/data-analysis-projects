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26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4:38.4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44:48.18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18289 1 0,'776'387'0,"-1552"1"0,1552-776 0,-19840 388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5:00.6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0 413,'19'-7,"-1"0,1 1,0 1,0 1,1 0,22 0,-1-1,501-38,-369 34,886-8,-742 18,-233 4,1 3,89 20,77 9,148 7,-282-29,13 11,-95-17,0-1,68 5,459-12,67 3,-255 17,376 8,-697-32,0-1,56-13,101-32,-152 35,889-225,-711 176,383-79,-515 130,208 5,103 35,-388-26,183 26,-126-19,139 9,-69-3,-54-3,267 46,-217-30,158 34,-226-46,-32-6,71 5,-37-6,0 3,114 33,-70-23,-41-8,-56-9,0-2,0-1,0-1,39-4,123-25,-39 4,-146 23,347-27,-307 25,48-8,41-3,706 12,-405 4,1826-2,-1800 22,-348-14,74 18,-128-14,107 4,457-17,-597 0,56-11,-11 1,-48 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45:04.0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12319 49 0,'-12318'0'0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5:09.86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0 111,'3'0,"62"1,1-3,74-13,109-40,-243 53,78-10,-19 3,0 0,0 3,113 5,-97 2,-71-1,-1 0,0 1,1 1,-1-1,0 1,0 1,0 0,12 6,-1 1,-2 1,26 21,-24-20,0 0,0-1,23 8,-8-3,-23-11,0-1,0 0,0-1,0 0,0-1,22 1,80-5,-48 0,9 3,67-3,-75-11,-49 9,-1 0,20-1,51-9,-64 9,1 1,27-1,156 5,-180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45:12.0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2486 0 0,'-2486'0'0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2T10:45:17.0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18054 49 0,'-18053'0'0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5:26.4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6:08.98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6:12.6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6:12.8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6:14.02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2T10:46:14.2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66D63-7D5F-41A7-836F-0064AE9B2929}" type="datetimeFigureOut">
              <a:rPr lang="en-IN" smtClean="0"/>
              <a:t>03-12-2025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5E863-CA3E-4460-9FD5-7CD51766C741}" type="slidenum">
              <a:rPr lang="en-IN" smtClean="0"/>
              <a:t>‹#›</a:t>
            </a:fld>
            <a:endParaRPr lang="en-IN"/>
          </a:p>
        </p:txBody>
      </p:sp>
    </p:spTree>
    <p:extLst>
      <p:ext uri="{BB962C8B-B14F-4D97-AF65-F5344CB8AC3E}">
        <p14:creationId xmlns:p14="http://schemas.microsoft.com/office/powerpoint/2010/main" val="3321558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F335A5C-5854-421F-81AA-8F531551F8CC}" type="datetimeFigureOut">
              <a:rPr lang="en-IN" smtClean="0"/>
              <a:t>03-12-2025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87457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335A5C-5854-421F-81AA-8F531551F8CC}"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1536115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F335A5C-5854-421F-81AA-8F531551F8CC}" type="datetimeFigureOut">
              <a:rPr lang="en-IN" smtClean="0"/>
              <a:t>03-12-2025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252113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70489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335A5C-5854-421F-81AA-8F531551F8CC}" type="datetimeFigureOut">
              <a:rPr lang="en-IN" smtClean="0"/>
              <a:t>03-12-2025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9651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335A5C-5854-421F-81AA-8F531551F8CC}"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61545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335A5C-5854-421F-81AA-8F531551F8CC}" type="datetimeFigureOut">
              <a:rPr lang="en-IN" smtClean="0"/>
              <a:t>03-12-2025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137954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647975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399093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283320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124700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1EE2FF0-28AD-4400-BDE5-DEDA7902F2C8}"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83895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F335A5C-5854-421F-81AA-8F531551F8CC}" type="datetimeFigureOut">
              <a:rPr lang="en-IN" smtClean="0"/>
              <a:t>03-12-2025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1775610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335A5C-5854-421F-81AA-8F531551F8CC}"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621688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335A5C-5854-421F-81AA-8F531551F8CC}"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1228148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335A5C-5854-421F-81AA-8F531551F8CC}"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2452600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F335A5C-5854-421F-81AA-8F531551F8CC}" type="datetimeFigureOut">
              <a:rPr lang="en-IN" smtClean="0"/>
              <a:t>03-12-2025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E1EE2FF0-28AD-4400-BDE5-DEDA7902F2C8}" type="slidenum">
              <a:rPr lang="en-IN" smtClean="0"/>
              <a:t>‹#›</a:t>
            </a:fld>
            <a:endParaRPr lang="en-IN"/>
          </a:p>
        </p:txBody>
      </p:sp>
    </p:spTree>
    <p:extLst>
      <p:ext uri="{BB962C8B-B14F-4D97-AF65-F5344CB8AC3E}">
        <p14:creationId xmlns:p14="http://schemas.microsoft.com/office/powerpoint/2010/main" val="3443919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F335A5C-5854-421F-81AA-8F531551F8CC}" type="datetimeFigureOut">
              <a:rPr lang="en-IN" smtClean="0"/>
              <a:t>03-12-2025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1EE2FF0-28AD-4400-BDE5-DEDA7902F2C8}" type="slidenum">
              <a:rPr lang="en-IN" smtClean="0"/>
              <a:t>‹#›</a:t>
            </a:fld>
            <a:endParaRPr lang="en-IN"/>
          </a:p>
        </p:txBody>
      </p:sp>
    </p:spTree>
    <p:extLst>
      <p:ext uri="{BB962C8B-B14F-4D97-AF65-F5344CB8AC3E}">
        <p14:creationId xmlns:p14="http://schemas.microsoft.com/office/powerpoint/2010/main" val="120979539"/>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customXml" Target="../ink/ink9.xml"/><Relationship Id="rId3" Type="http://schemas.openxmlformats.org/officeDocument/2006/relationships/customXml" Target="../ink/ink1.xml"/><Relationship Id="rId21" Type="http://schemas.openxmlformats.org/officeDocument/2006/relationships/customXml" Target="../ink/ink12.xml"/><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9.jpeg"/><Relationship Id="rId16" Type="http://schemas.openxmlformats.org/officeDocument/2006/relationships/image" Target="../media/image16.png"/><Relationship Id="rId20"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19" Type="http://schemas.openxmlformats.org/officeDocument/2006/relationships/customXml" Target="../ink/ink10.xml"/><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 Id="rId22" Type="http://schemas.openxmlformats.org/officeDocument/2006/relationships/customXml" Target="../ink/ink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79+ Thousand Data Analytics Background Royalty-Free Images, Stock Photos &amp;  Pictures | Shutterstock">
            <a:extLst>
              <a:ext uri="{FF2B5EF4-FFF2-40B4-BE49-F238E27FC236}">
                <a16:creationId xmlns:a16="http://schemas.microsoft.com/office/drawing/2014/main" id="{6BB7AD59-1A53-D942-A0A6-5A44136A6F5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8826" y="-56536"/>
            <a:ext cx="12260826" cy="69710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9952032-70B5-F62B-735E-F0B64EF4181D}"/>
              </a:ext>
            </a:extLst>
          </p:cNvPr>
          <p:cNvSpPr txBox="1"/>
          <p:nvPr/>
        </p:nvSpPr>
        <p:spPr>
          <a:xfrm>
            <a:off x="1022555" y="883346"/>
            <a:ext cx="9291484" cy="923330"/>
          </a:xfrm>
          <a:prstGeom prst="rect">
            <a:avLst/>
          </a:prstGeom>
          <a:noFill/>
        </p:spPr>
        <p:txBody>
          <a:bodyPr wrap="square" rtlCol="0">
            <a:spAutoFit/>
          </a:bodyPr>
          <a:lstStyle/>
          <a:p>
            <a:r>
              <a:rPr lang="en-US" sz="5400" b="1" dirty="0">
                <a:latin typeface="Algerian" panose="04020705040A02060702" pitchFamily="82" charset="0"/>
              </a:rPr>
              <a:t>Customer Data </a:t>
            </a:r>
            <a:r>
              <a:rPr lang="en-US" sz="5400" b="1" dirty="0" err="1">
                <a:latin typeface="Algerian" panose="04020705040A02060702" pitchFamily="82" charset="0"/>
              </a:rPr>
              <a:t>Anaylsis</a:t>
            </a:r>
            <a:endParaRPr lang="en-IN" sz="5400" b="1" dirty="0">
              <a:latin typeface="Algerian" panose="04020705040A02060702" pitchFamily="82" charset="0"/>
            </a:endParaRPr>
          </a:p>
        </p:txBody>
      </p:sp>
      <p:pic>
        <p:nvPicPr>
          <p:cNvPr id="6" name="Graphic 5" descr="Bar chart with solid fill">
            <a:extLst>
              <a:ext uri="{FF2B5EF4-FFF2-40B4-BE49-F238E27FC236}">
                <a16:creationId xmlns:a16="http://schemas.microsoft.com/office/drawing/2014/main" id="{0731BB1C-2B8F-385D-F488-B245455043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9551" y="1814051"/>
            <a:ext cx="5043946" cy="3313471"/>
          </a:xfrm>
          <a:prstGeom prst="rect">
            <a:avLst/>
          </a:prstGeom>
        </p:spPr>
      </p:pic>
      <p:pic>
        <p:nvPicPr>
          <p:cNvPr id="8" name="Graphic 7" descr="Pie chart with solid fill">
            <a:extLst>
              <a:ext uri="{FF2B5EF4-FFF2-40B4-BE49-F238E27FC236}">
                <a16:creationId xmlns:a16="http://schemas.microsoft.com/office/drawing/2014/main" id="{A82CBD09-601F-DA95-ADCB-3DC1C93A20D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28504" y="2059857"/>
            <a:ext cx="2738284" cy="2738284"/>
          </a:xfrm>
          <a:prstGeom prst="rect">
            <a:avLst/>
          </a:prstGeom>
        </p:spPr>
      </p:pic>
      <p:sp>
        <p:nvSpPr>
          <p:cNvPr id="9" name="TextBox 8">
            <a:extLst>
              <a:ext uri="{FF2B5EF4-FFF2-40B4-BE49-F238E27FC236}">
                <a16:creationId xmlns:a16="http://schemas.microsoft.com/office/drawing/2014/main" id="{54838B61-191F-CFFF-2998-E07AF187F2FD}"/>
              </a:ext>
            </a:extLst>
          </p:cNvPr>
          <p:cNvSpPr txBox="1"/>
          <p:nvPr/>
        </p:nvSpPr>
        <p:spPr>
          <a:xfrm>
            <a:off x="471948" y="5633884"/>
            <a:ext cx="11110452" cy="830997"/>
          </a:xfrm>
          <a:prstGeom prst="rect">
            <a:avLst/>
          </a:prstGeom>
          <a:noFill/>
        </p:spPr>
        <p:txBody>
          <a:bodyPr wrap="square" rtlCol="0">
            <a:spAutoFit/>
          </a:bodyPr>
          <a:lstStyle/>
          <a:p>
            <a:r>
              <a:rPr lang="en-US" sz="1600" dirty="0">
                <a:solidFill>
                  <a:schemeClr val="accent4">
                    <a:lumMod val="60000"/>
                    <a:lumOff val="40000"/>
                  </a:schemeClr>
                </a:solidFill>
                <a:latin typeface="Monotype Corsiva" panose="03010101010201010101" pitchFamily="66" charset="0"/>
              </a:rPr>
              <a:t>	Customer data analysis helps businesses understand customer behavior, preferences, and buying patterns using collected data. It identifies trends such as most purchased products, high-value customers, and peak sales periods. This analysis supports better decision-making in marketing, inventory, and customer service. Overall, it improves customer satisfaction and increases business profitability.</a:t>
            </a:r>
            <a:endParaRPr lang="en-IN" sz="1600" dirty="0">
              <a:solidFill>
                <a:schemeClr val="accent4">
                  <a:lumMod val="60000"/>
                  <a:lumOff val="40000"/>
                </a:schemeClr>
              </a:solidFill>
              <a:latin typeface="Monotype Corsiva" panose="03010101010201010101" pitchFamily="66" charset="0"/>
            </a:endParaRPr>
          </a:p>
        </p:txBody>
      </p:sp>
      <p:sp>
        <p:nvSpPr>
          <p:cNvPr id="10" name="TextBox 9">
            <a:extLst>
              <a:ext uri="{FF2B5EF4-FFF2-40B4-BE49-F238E27FC236}">
                <a16:creationId xmlns:a16="http://schemas.microsoft.com/office/drawing/2014/main" id="{CBB856B7-AF3D-90B1-7828-8DE1C80AE685}"/>
              </a:ext>
            </a:extLst>
          </p:cNvPr>
          <p:cNvSpPr txBox="1"/>
          <p:nvPr/>
        </p:nvSpPr>
        <p:spPr>
          <a:xfrm>
            <a:off x="9566788" y="6564087"/>
            <a:ext cx="3618271" cy="307777"/>
          </a:xfrm>
          <a:prstGeom prst="rect">
            <a:avLst/>
          </a:prstGeom>
          <a:noFill/>
        </p:spPr>
        <p:txBody>
          <a:bodyPr wrap="square" rtlCol="0">
            <a:spAutoFit/>
          </a:bodyPr>
          <a:lstStyle/>
          <a:p>
            <a:r>
              <a:rPr lang="en-US" sz="1400" dirty="0">
                <a:solidFill>
                  <a:srgbClr val="FFFF00"/>
                </a:solidFill>
                <a:latin typeface="Monotype Corsiva" panose="03010101010201010101" pitchFamily="66" charset="0"/>
              </a:rPr>
              <a:t>Presented By : Yuvaraj Bagi</a:t>
            </a:r>
            <a:endParaRPr lang="en-IN" sz="1400" dirty="0">
              <a:solidFill>
                <a:srgbClr val="FFFF00"/>
              </a:solidFill>
              <a:latin typeface="Monotype Corsiva" panose="03010101010201010101" pitchFamily="66" charset="0"/>
            </a:endParaRPr>
          </a:p>
        </p:txBody>
      </p:sp>
    </p:spTree>
    <p:extLst>
      <p:ext uri="{BB962C8B-B14F-4D97-AF65-F5344CB8AC3E}">
        <p14:creationId xmlns:p14="http://schemas.microsoft.com/office/powerpoint/2010/main" val="99545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3F61-822C-30D9-A39E-2995E4A021D7}"/>
              </a:ext>
            </a:extLst>
          </p:cNvPr>
          <p:cNvSpPr>
            <a:spLocks noGrp="1"/>
          </p:cNvSpPr>
          <p:nvPr>
            <p:ph type="title"/>
          </p:nvPr>
        </p:nvSpPr>
        <p:spPr>
          <a:xfrm>
            <a:off x="1887793" y="747252"/>
            <a:ext cx="10412361" cy="759627"/>
          </a:xfrm>
        </p:spPr>
        <p:txBody>
          <a:bodyPr>
            <a:normAutofit fontScale="90000"/>
          </a:bodyPr>
          <a:lstStyle/>
          <a:p>
            <a:r>
              <a:rPr lang="en-US" dirty="0">
                <a:solidFill>
                  <a:srgbClr val="FE2602"/>
                </a:solidFill>
                <a:latin typeface="Cooper Black" panose="0208090404030B020404" pitchFamily="18" charset="0"/>
              </a:rPr>
              <a:t>Customer Data Analysis Dashboard</a:t>
            </a:r>
            <a:endParaRPr lang="en-IN" dirty="0">
              <a:solidFill>
                <a:srgbClr val="FE2602"/>
              </a:solidFill>
              <a:latin typeface="Cooper Black" panose="0208090404030B020404" pitchFamily="18" charset="0"/>
            </a:endParaRPr>
          </a:p>
        </p:txBody>
      </p:sp>
      <p:pic>
        <p:nvPicPr>
          <p:cNvPr id="6" name="Content Placeholder 5">
            <a:extLst>
              <a:ext uri="{FF2B5EF4-FFF2-40B4-BE49-F238E27FC236}">
                <a16:creationId xmlns:a16="http://schemas.microsoft.com/office/drawing/2014/main" id="{BC0A5474-B2F6-048F-285E-3070B4D9CA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0271" y="1506879"/>
            <a:ext cx="10412360" cy="49135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2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0BBA-7904-637F-39DD-E5A37902ECF3}"/>
              </a:ext>
            </a:extLst>
          </p:cNvPr>
          <p:cNvSpPr>
            <a:spLocks noGrp="1"/>
          </p:cNvSpPr>
          <p:nvPr>
            <p:ph type="title"/>
          </p:nvPr>
        </p:nvSpPr>
        <p:spPr>
          <a:xfrm>
            <a:off x="6263148" y="284082"/>
            <a:ext cx="5852652" cy="710466"/>
          </a:xfrm>
        </p:spPr>
        <p:txBody>
          <a:bodyPr/>
          <a:lstStyle/>
          <a:p>
            <a:r>
              <a:rPr lang="en-US" dirty="0">
                <a:latin typeface="Cooper Black" panose="0208090404030B020404" pitchFamily="18" charset="0"/>
              </a:rPr>
              <a:t>Project overview</a:t>
            </a:r>
            <a:endParaRPr lang="en-IN" dirty="0">
              <a:latin typeface="Cooper Black" panose="0208090404030B020404" pitchFamily="18" charset="0"/>
            </a:endParaRPr>
          </a:p>
        </p:txBody>
      </p:sp>
      <p:sp>
        <p:nvSpPr>
          <p:cNvPr id="3" name="Content Placeholder 2">
            <a:extLst>
              <a:ext uri="{FF2B5EF4-FFF2-40B4-BE49-F238E27FC236}">
                <a16:creationId xmlns:a16="http://schemas.microsoft.com/office/drawing/2014/main" id="{5ABD380F-3A38-C757-A781-BDB2755C3E5E}"/>
              </a:ext>
            </a:extLst>
          </p:cNvPr>
          <p:cNvSpPr>
            <a:spLocks noGrp="1"/>
          </p:cNvSpPr>
          <p:nvPr>
            <p:ph idx="1"/>
          </p:nvPr>
        </p:nvSpPr>
        <p:spPr>
          <a:xfrm>
            <a:off x="7048837" y="1666572"/>
            <a:ext cx="5015421" cy="4321059"/>
          </a:xfrm>
        </p:spPr>
        <p:txBody>
          <a:bodyPr>
            <a:normAutofit fontScale="92500" lnSpcReduction="10000"/>
          </a:bodyPr>
          <a:lstStyle/>
          <a:p>
            <a:pPr marL="0" indent="0" algn="just">
              <a:buNone/>
            </a:pPr>
            <a:r>
              <a:rPr lang="en-US" sz="2000" b="1" dirty="0">
                <a:latin typeface="Arial Narrow" panose="020B0606020202030204" pitchFamily="34" charset="0"/>
              </a:rPr>
              <a:t>		This project focuses on analyzing customer data to understand purchasing behavior, preferences, and trends. It examines factors like age, gender, product categories, and payment methods to identify patterns in sales and revenue. The goal is to provide useful insights for improving business decisions, marketing strategies, and customer experience.</a:t>
            </a:r>
          </a:p>
          <a:p>
            <a:pPr marL="0" indent="0" algn="just">
              <a:buNone/>
            </a:pPr>
            <a:br>
              <a:rPr lang="en-US" sz="2000" b="1" dirty="0">
                <a:latin typeface="Arial Narrow" panose="020B0606020202030204" pitchFamily="34" charset="0"/>
              </a:rPr>
            </a:br>
            <a:r>
              <a:rPr lang="en-US" sz="2000" b="1" dirty="0">
                <a:latin typeface="Arial Narrow" panose="020B0606020202030204" pitchFamily="34" charset="0"/>
              </a:rPr>
              <a:t>In this project, SQL is used to extract, filter, and transform data from the database, while Power BI is used to create interactive dashboards and visual reports. These reports help stakeholders easily understand sales performance and customer patterns. The project supports data-driven decision-making using reliable queries and clear visualizations.</a:t>
            </a:r>
          </a:p>
          <a:p>
            <a:pPr algn="just"/>
            <a:endParaRPr lang="en-IN" sz="2000" b="1" dirty="0">
              <a:latin typeface="Arial Narrow" panose="020B0606020202030204" pitchFamily="34" charset="0"/>
            </a:endParaRPr>
          </a:p>
        </p:txBody>
      </p:sp>
      <p:pic>
        <p:nvPicPr>
          <p:cNvPr id="2052" name="Picture 4" descr="2+ Million Data Chart Royalty-Free Images, Stock Photos &amp; Pictures |  Shutterstock">
            <a:extLst>
              <a:ext uri="{FF2B5EF4-FFF2-40B4-BE49-F238E27FC236}">
                <a16:creationId xmlns:a16="http://schemas.microsoft.com/office/drawing/2014/main" id="{37638429-804B-9D2A-09E1-8777FC9FF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31" y="1521145"/>
            <a:ext cx="6371304" cy="485999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3DCD0284-0510-1F69-5C01-B3F6DBBA212F}"/>
                  </a:ext>
                </a:extLst>
              </p14:cNvPr>
              <p14:cNvContentPartPr/>
              <p14:nvPr/>
            </p14:nvContentPartPr>
            <p14:xfrm>
              <a:off x="7265868" y="5692908"/>
              <a:ext cx="360" cy="360"/>
            </p14:xfrm>
          </p:contentPart>
        </mc:Choice>
        <mc:Fallback xmlns="">
          <p:pic>
            <p:nvPicPr>
              <p:cNvPr id="7" name="Ink 6">
                <a:extLst>
                  <a:ext uri="{FF2B5EF4-FFF2-40B4-BE49-F238E27FC236}">
                    <a16:creationId xmlns:a16="http://schemas.microsoft.com/office/drawing/2014/main" id="{3DCD0284-0510-1F69-5C01-B3F6DBBA212F}"/>
                  </a:ext>
                </a:extLst>
              </p:cNvPr>
              <p:cNvPicPr/>
              <p:nvPr/>
            </p:nvPicPr>
            <p:blipFill>
              <a:blip r:embed="rId4"/>
              <a:stretch>
                <a:fillRect/>
              </a:stretch>
            </p:blipFill>
            <p:spPr>
              <a:xfrm>
                <a:off x="7211868" y="558490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4EF53D7E-61ED-6FAC-680E-0A538E7EE83E}"/>
                  </a:ext>
                </a:extLst>
              </p14:cNvPr>
              <p14:cNvContentPartPr/>
              <p14:nvPr/>
            </p14:nvContentPartPr>
            <p14:xfrm>
              <a:off x="97548" y="6034908"/>
              <a:ext cx="6863400" cy="279720"/>
            </p14:xfrm>
          </p:contentPart>
        </mc:Choice>
        <mc:Fallback xmlns="">
          <p:pic>
            <p:nvPicPr>
              <p:cNvPr id="9" name="Ink 8">
                <a:extLst>
                  <a:ext uri="{FF2B5EF4-FFF2-40B4-BE49-F238E27FC236}">
                    <a16:creationId xmlns:a16="http://schemas.microsoft.com/office/drawing/2014/main" id="{4EF53D7E-61ED-6FAC-680E-0A538E7EE83E}"/>
                  </a:ext>
                </a:extLst>
              </p:cNvPr>
              <p:cNvPicPr/>
              <p:nvPr/>
            </p:nvPicPr>
            <p:blipFill>
              <a:blip r:embed="rId6"/>
              <a:stretch>
                <a:fillRect/>
              </a:stretch>
            </p:blipFill>
            <p:spPr>
              <a:xfrm>
                <a:off x="43908" y="5927268"/>
                <a:ext cx="697104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BFDE83D-FF05-57DA-6B5D-7859F0174038}"/>
                  </a:ext>
                </a:extLst>
              </p14:cNvPr>
              <p14:cNvContentPartPr/>
              <p14:nvPr/>
            </p14:nvContentPartPr>
            <p14:xfrm>
              <a:off x="245508" y="6212748"/>
              <a:ext cx="6537600" cy="198360"/>
            </p14:xfrm>
          </p:contentPart>
        </mc:Choice>
        <mc:Fallback xmlns="">
          <p:pic>
            <p:nvPicPr>
              <p:cNvPr id="10" name="Ink 9">
                <a:extLst>
                  <a:ext uri="{FF2B5EF4-FFF2-40B4-BE49-F238E27FC236}">
                    <a16:creationId xmlns:a16="http://schemas.microsoft.com/office/drawing/2014/main" id="{FBFDE83D-FF05-57DA-6B5D-7859F0174038}"/>
                  </a:ext>
                </a:extLst>
              </p:cNvPr>
              <p:cNvPicPr/>
              <p:nvPr/>
            </p:nvPicPr>
            <p:blipFill>
              <a:blip r:embed="rId8"/>
              <a:stretch>
                <a:fillRect/>
              </a:stretch>
            </p:blipFill>
            <p:spPr>
              <a:xfrm>
                <a:off x="191508" y="6105108"/>
                <a:ext cx="664524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B8398617-BC0E-85CF-2206-A4917CF598AE}"/>
                  </a:ext>
                </a:extLst>
              </p14:cNvPr>
              <p14:cNvContentPartPr/>
              <p14:nvPr/>
            </p14:nvContentPartPr>
            <p14:xfrm>
              <a:off x="1445028" y="6351348"/>
              <a:ext cx="4434840" cy="720"/>
            </p14:xfrm>
          </p:contentPart>
        </mc:Choice>
        <mc:Fallback xmlns="">
          <p:pic>
            <p:nvPicPr>
              <p:cNvPr id="12" name="Ink 11">
                <a:extLst>
                  <a:ext uri="{FF2B5EF4-FFF2-40B4-BE49-F238E27FC236}">
                    <a16:creationId xmlns:a16="http://schemas.microsoft.com/office/drawing/2014/main" id="{B8398617-BC0E-85CF-2206-A4917CF598AE}"/>
                  </a:ext>
                </a:extLst>
              </p:cNvPr>
              <p:cNvPicPr/>
              <p:nvPr/>
            </p:nvPicPr>
            <p:blipFill>
              <a:blip r:embed="rId10"/>
              <a:stretch>
                <a:fillRect/>
              </a:stretch>
            </p:blipFill>
            <p:spPr>
              <a:xfrm>
                <a:off x="1391388" y="6135348"/>
                <a:ext cx="45424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BE321EC8-1967-BE81-F55B-50537C6C5F82}"/>
                  </a:ext>
                </a:extLst>
              </p14:cNvPr>
              <p14:cNvContentPartPr/>
              <p14:nvPr/>
            </p14:nvContentPartPr>
            <p14:xfrm>
              <a:off x="285108" y="6065868"/>
              <a:ext cx="882000" cy="61200"/>
            </p14:xfrm>
          </p:contentPart>
        </mc:Choice>
        <mc:Fallback xmlns="">
          <p:pic>
            <p:nvPicPr>
              <p:cNvPr id="13" name="Ink 12">
                <a:extLst>
                  <a:ext uri="{FF2B5EF4-FFF2-40B4-BE49-F238E27FC236}">
                    <a16:creationId xmlns:a16="http://schemas.microsoft.com/office/drawing/2014/main" id="{BE321EC8-1967-BE81-F55B-50537C6C5F82}"/>
                  </a:ext>
                </a:extLst>
              </p:cNvPr>
              <p:cNvPicPr/>
              <p:nvPr/>
            </p:nvPicPr>
            <p:blipFill>
              <a:blip r:embed="rId12"/>
              <a:stretch>
                <a:fillRect/>
              </a:stretch>
            </p:blipFill>
            <p:spPr>
              <a:xfrm>
                <a:off x="231108" y="5958228"/>
                <a:ext cx="9896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8BD02B6B-8432-BC71-7C5A-DA267A85656A}"/>
                  </a:ext>
                </a:extLst>
              </p14:cNvPr>
              <p14:cNvContentPartPr/>
              <p14:nvPr/>
            </p14:nvContentPartPr>
            <p14:xfrm>
              <a:off x="284748" y="6105828"/>
              <a:ext cx="894960" cy="720"/>
            </p14:xfrm>
          </p:contentPart>
        </mc:Choice>
        <mc:Fallback xmlns="">
          <p:pic>
            <p:nvPicPr>
              <p:cNvPr id="15" name="Ink 14">
                <a:extLst>
                  <a:ext uri="{FF2B5EF4-FFF2-40B4-BE49-F238E27FC236}">
                    <a16:creationId xmlns:a16="http://schemas.microsoft.com/office/drawing/2014/main" id="{8BD02B6B-8432-BC71-7C5A-DA267A85656A}"/>
                  </a:ext>
                </a:extLst>
              </p:cNvPr>
              <p:cNvPicPr/>
              <p:nvPr/>
            </p:nvPicPr>
            <p:blipFill>
              <a:blip r:embed="rId14"/>
              <a:stretch>
                <a:fillRect/>
              </a:stretch>
            </p:blipFill>
            <p:spPr>
              <a:xfrm>
                <a:off x="230748" y="5889828"/>
                <a:ext cx="10026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19F4A68B-2EED-C442-BB1D-39F53F0E1FB3}"/>
                  </a:ext>
                </a:extLst>
              </p14:cNvPr>
              <p14:cNvContentPartPr/>
              <p14:nvPr/>
            </p14:nvContentPartPr>
            <p14:xfrm>
              <a:off x="196548" y="6066228"/>
              <a:ext cx="6499440" cy="720"/>
            </p14:xfrm>
          </p:contentPart>
        </mc:Choice>
        <mc:Fallback xmlns="">
          <p:pic>
            <p:nvPicPr>
              <p:cNvPr id="17" name="Ink 16">
                <a:extLst>
                  <a:ext uri="{FF2B5EF4-FFF2-40B4-BE49-F238E27FC236}">
                    <a16:creationId xmlns:a16="http://schemas.microsoft.com/office/drawing/2014/main" id="{19F4A68B-2EED-C442-BB1D-39F53F0E1FB3}"/>
                  </a:ext>
                </a:extLst>
              </p:cNvPr>
              <p:cNvPicPr/>
              <p:nvPr/>
            </p:nvPicPr>
            <p:blipFill>
              <a:blip r:embed="rId16"/>
              <a:stretch>
                <a:fillRect/>
              </a:stretch>
            </p:blipFill>
            <p:spPr>
              <a:xfrm>
                <a:off x="142908" y="5850228"/>
                <a:ext cx="66070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16C58520-D888-52AA-DEC2-20C37C877EC1}"/>
                  </a:ext>
                </a:extLst>
              </p14:cNvPr>
              <p14:cNvContentPartPr/>
              <p14:nvPr/>
            </p14:nvContentPartPr>
            <p14:xfrm>
              <a:off x="6960948" y="6361428"/>
              <a:ext cx="360" cy="360"/>
            </p14:xfrm>
          </p:contentPart>
        </mc:Choice>
        <mc:Fallback xmlns="">
          <p:pic>
            <p:nvPicPr>
              <p:cNvPr id="18" name="Ink 17">
                <a:extLst>
                  <a:ext uri="{FF2B5EF4-FFF2-40B4-BE49-F238E27FC236}">
                    <a16:creationId xmlns:a16="http://schemas.microsoft.com/office/drawing/2014/main" id="{16C58520-D888-52AA-DEC2-20C37C877EC1}"/>
                  </a:ext>
                </a:extLst>
              </p:cNvPr>
              <p:cNvPicPr/>
              <p:nvPr/>
            </p:nvPicPr>
            <p:blipFill>
              <a:blip r:embed="rId4"/>
              <a:stretch>
                <a:fillRect/>
              </a:stretch>
            </p:blipFill>
            <p:spPr>
              <a:xfrm>
                <a:off x="6907308" y="625342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2D7CB7D1-4E8C-B646-E8EB-AFA177EFE595}"/>
                  </a:ext>
                </a:extLst>
              </p14:cNvPr>
              <p14:cNvContentPartPr/>
              <p14:nvPr/>
            </p14:nvContentPartPr>
            <p14:xfrm>
              <a:off x="9556548" y="3392148"/>
              <a:ext cx="360" cy="360"/>
            </p14:xfrm>
          </p:contentPart>
        </mc:Choice>
        <mc:Fallback xmlns="">
          <p:pic>
            <p:nvPicPr>
              <p:cNvPr id="19" name="Ink 18">
                <a:extLst>
                  <a:ext uri="{FF2B5EF4-FFF2-40B4-BE49-F238E27FC236}">
                    <a16:creationId xmlns:a16="http://schemas.microsoft.com/office/drawing/2014/main" id="{2D7CB7D1-4E8C-B646-E8EB-AFA177EFE595}"/>
                  </a:ext>
                </a:extLst>
              </p:cNvPr>
              <p:cNvPicPr/>
              <p:nvPr/>
            </p:nvPicPr>
            <p:blipFill>
              <a:blip r:embed="rId4"/>
              <a:stretch>
                <a:fillRect/>
              </a:stretch>
            </p:blipFill>
            <p:spPr>
              <a:xfrm>
                <a:off x="9502908" y="328414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581211D1-8647-1D88-AE72-706E6C49F530}"/>
                  </a:ext>
                </a:extLst>
              </p14:cNvPr>
              <p14:cNvContentPartPr/>
              <p14:nvPr/>
            </p14:nvContentPartPr>
            <p14:xfrm>
              <a:off x="10156308" y="5191068"/>
              <a:ext cx="360" cy="360"/>
            </p14:xfrm>
          </p:contentPart>
        </mc:Choice>
        <mc:Fallback xmlns="">
          <p:pic>
            <p:nvPicPr>
              <p:cNvPr id="20" name="Ink 19">
                <a:extLst>
                  <a:ext uri="{FF2B5EF4-FFF2-40B4-BE49-F238E27FC236}">
                    <a16:creationId xmlns:a16="http://schemas.microsoft.com/office/drawing/2014/main" id="{581211D1-8647-1D88-AE72-706E6C49F530}"/>
                  </a:ext>
                </a:extLst>
              </p:cNvPr>
              <p:cNvPicPr/>
              <p:nvPr/>
            </p:nvPicPr>
            <p:blipFill>
              <a:blip r:embed="rId4"/>
              <a:stretch>
                <a:fillRect/>
              </a:stretch>
            </p:blipFill>
            <p:spPr>
              <a:xfrm>
                <a:off x="10102668" y="508342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F1A05131-E603-9075-EF03-898C9859D8CD}"/>
                  </a:ext>
                </a:extLst>
              </p14:cNvPr>
              <p14:cNvContentPartPr/>
              <p14:nvPr/>
            </p14:nvContentPartPr>
            <p14:xfrm>
              <a:off x="10156308" y="5191068"/>
              <a:ext cx="360" cy="360"/>
            </p14:xfrm>
          </p:contentPart>
        </mc:Choice>
        <mc:Fallback xmlns="">
          <p:pic>
            <p:nvPicPr>
              <p:cNvPr id="21" name="Ink 20">
                <a:extLst>
                  <a:ext uri="{FF2B5EF4-FFF2-40B4-BE49-F238E27FC236}">
                    <a16:creationId xmlns:a16="http://schemas.microsoft.com/office/drawing/2014/main" id="{F1A05131-E603-9075-EF03-898C9859D8CD}"/>
                  </a:ext>
                </a:extLst>
              </p:cNvPr>
              <p:cNvPicPr/>
              <p:nvPr/>
            </p:nvPicPr>
            <p:blipFill>
              <a:blip r:embed="rId4"/>
              <a:stretch>
                <a:fillRect/>
              </a:stretch>
            </p:blipFill>
            <p:spPr>
              <a:xfrm>
                <a:off x="10102668" y="508342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AB202D94-28F7-02A1-56F3-8B5A6606790A}"/>
                  </a:ext>
                </a:extLst>
              </p14:cNvPr>
              <p14:cNvContentPartPr/>
              <p14:nvPr/>
            </p14:nvContentPartPr>
            <p14:xfrm>
              <a:off x="10068108" y="4650348"/>
              <a:ext cx="360" cy="360"/>
            </p14:xfrm>
          </p:contentPart>
        </mc:Choice>
        <mc:Fallback xmlns="">
          <p:pic>
            <p:nvPicPr>
              <p:cNvPr id="22" name="Ink 21">
                <a:extLst>
                  <a:ext uri="{FF2B5EF4-FFF2-40B4-BE49-F238E27FC236}">
                    <a16:creationId xmlns:a16="http://schemas.microsoft.com/office/drawing/2014/main" id="{AB202D94-28F7-02A1-56F3-8B5A6606790A}"/>
                  </a:ext>
                </a:extLst>
              </p:cNvPr>
              <p:cNvPicPr/>
              <p:nvPr/>
            </p:nvPicPr>
            <p:blipFill>
              <a:blip r:embed="rId4"/>
              <a:stretch>
                <a:fillRect/>
              </a:stretch>
            </p:blipFill>
            <p:spPr>
              <a:xfrm>
                <a:off x="10014468" y="454270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A62BCBB0-813C-C299-06CB-4BAF8BC721A1}"/>
                  </a:ext>
                </a:extLst>
              </p14:cNvPr>
              <p14:cNvContentPartPr/>
              <p14:nvPr/>
            </p14:nvContentPartPr>
            <p14:xfrm>
              <a:off x="10068108" y="4650348"/>
              <a:ext cx="360" cy="360"/>
            </p14:xfrm>
          </p:contentPart>
        </mc:Choice>
        <mc:Fallback xmlns="">
          <p:pic>
            <p:nvPicPr>
              <p:cNvPr id="23" name="Ink 22">
                <a:extLst>
                  <a:ext uri="{FF2B5EF4-FFF2-40B4-BE49-F238E27FC236}">
                    <a16:creationId xmlns:a16="http://schemas.microsoft.com/office/drawing/2014/main" id="{A62BCBB0-813C-C299-06CB-4BAF8BC721A1}"/>
                  </a:ext>
                </a:extLst>
              </p:cNvPr>
              <p:cNvPicPr/>
              <p:nvPr/>
            </p:nvPicPr>
            <p:blipFill>
              <a:blip r:embed="rId4"/>
              <a:stretch>
                <a:fillRect/>
              </a:stretch>
            </p:blipFill>
            <p:spPr>
              <a:xfrm>
                <a:off x="10014468" y="4542708"/>
                <a:ext cx="108000" cy="216000"/>
              </a:xfrm>
              <a:prstGeom prst="rect">
                <a:avLst/>
              </a:prstGeom>
            </p:spPr>
          </p:pic>
        </mc:Fallback>
      </mc:AlternateContent>
    </p:spTree>
    <p:extLst>
      <p:ext uri="{BB962C8B-B14F-4D97-AF65-F5344CB8AC3E}">
        <p14:creationId xmlns:p14="http://schemas.microsoft.com/office/powerpoint/2010/main" val="3920511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19314-5804-035F-756A-8E605FE9E41A}"/>
              </a:ext>
            </a:extLst>
          </p:cNvPr>
          <p:cNvSpPr>
            <a:spLocks noGrp="1"/>
          </p:cNvSpPr>
          <p:nvPr>
            <p:ph type="title"/>
          </p:nvPr>
        </p:nvSpPr>
        <p:spPr>
          <a:xfrm>
            <a:off x="3267389" y="503116"/>
            <a:ext cx="8610600" cy="1293028"/>
          </a:xfrm>
        </p:spPr>
        <p:txBody>
          <a:bodyPr/>
          <a:lstStyle/>
          <a:p>
            <a:r>
              <a:rPr lang="en-IN" dirty="0">
                <a:latin typeface="Cooper Black" panose="0208090404030B020404" pitchFamily="18" charset="0"/>
              </a:rPr>
              <a:t>Dataset Architecture </a:t>
            </a:r>
          </a:p>
        </p:txBody>
      </p:sp>
      <p:sp>
        <p:nvSpPr>
          <p:cNvPr id="3" name="Content Placeholder 2">
            <a:extLst>
              <a:ext uri="{FF2B5EF4-FFF2-40B4-BE49-F238E27FC236}">
                <a16:creationId xmlns:a16="http://schemas.microsoft.com/office/drawing/2014/main" id="{21A1A218-098D-F0F0-3C89-D36E41325211}"/>
              </a:ext>
            </a:extLst>
          </p:cNvPr>
          <p:cNvSpPr>
            <a:spLocks noGrp="1"/>
          </p:cNvSpPr>
          <p:nvPr>
            <p:ph idx="1"/>
          </p:nvPr>
        </p:nvSpPr>
        <p:spPr>
          <a:xfrm>
            <a:off x="685800" y="1999622"/>
            <a:ext cx="10820400" cy="4219063"/>
          </a:xfrm>
        </p:spPr>
        <p:txBody>
          <a:bodyPr>
            <a:normAutofit fontScale="92500" lnSpcReduction="10000"/>
          </a:bodyPr>
          <a:lstStyle/>
          <a:p>
            <a:r>
              <a:rPr lang="en-US" sz="1800" b="1" dirty="0" err="1"/>
              <a:t>invoice_no</a:t>
            </a:r>
            <a:r>
              <a:rPr lang="en-US" sz="1800" b="1" dirty="0"/>
              <a:t>: A combination of the letter 'I' and a 6-digit integer uniquely assigned to each operation. </a:t>
            </a:r>
          </a:p>
          <a:p>
            <a:r>
              <a:rPr lang="en-US" sz="1800" b="1" dirty="0" err="1"/>
              <a:t>customer_id</a:t>
            </a:r>
            <a:r>
              <a:rPr lang="en-US" sz="1800" b="1" dirty="0"/>
              <a:t>: A combination of the letter 'C' and a 6-digit integer uniquely assigned to each operation. </a:t>
            </a:r>
          </a:p>
          <a:p>
            <a:r>
              <a:rPr lang="en-US" sz="1800" b="1" dirty="0"/>
              <a:t>gender: String variable of the customer's gender. </a:t>
            </a:r>
          </a:p>
          <a:p>
            <a:r>
              <a:rPr lang="en-US" sz="1800" b="1" dirty="0"/>
              <a:t>age: Positive Integer variable of the customer’s age. </a:t>
            </a:r>
          </a:p>
          <a:p>
            <a:r>
              <a:rPr lang="en-US" sz="1800" b="1" dirty="0"/>
              <a:t>category: String variable of the category of the purchased product. </a:t>
            </a:r>
          </a:p>
          <a:p>
            <a:r>
              <a:rPr lang="en-US" sz="1800" b="1" dirty="0"/>
              <a:t>quantity: The quantities of each product (item) per transaction. </a:t>
            </a:r>
          </a:p>
          <a:p>
            <a:r>
              <a:rPr lang="en-US" sz="1800" b="1" dirty="0"/>
              <a:t>price: Product price per unit in Turkish Liras (TL). </a:t>
            </a:r>
          </a:p>
          <a:p>
            <a:r>
              <a:rPr lang="en-US" sz="1800" b="1" dirty="0" err="1"/>
              <a:t>payment_method</a:t>
            </a:r>
            <a:r>
              <a:rPr lang="en-US" sz="1800" b="1" dirty="0"/>
              <a:t>: String variable of the payment method (cash, credit card or debit card) used for the transaction.</a:t>
            </a:r>
          </a:p>
          <a:p>
            <a:r>
              <a:rPr lang="en-US" sz="1800" b="1" dirty="0"/>
              <a:t> </a:t>
            </a:r>
            <a:r>
              <a:rPr lang="en-US" sz="1800" b="1" dirty="0" err="1"/>
              <a:t>invoice_date</a:t>
            </a:r>
            <a:r>
              <a:rPr lang="en-US" sz="1800" b="1" dirty="0"/>
              <a:t>: The day when a transaction was generated.</a:t>
            </a:r>
          </a:p>
          <a:p>
            <a:r>
              <a:rPr lang="en-US" sz="1800" b="1" dirty="0"/>
              <a:t> </a:t>
            </a:r>
            <a:r>
              <a:rPr lang="en-US" sz="1800" b="1" dirty="0" err="1"/>
              <a:t>shopping_mall</a:t>
            </a:r>
            <a:r>
              <a:rPr lang="en-US" sz="1800" b="1" dirty="0"/>
              <a:t>: String variable of the name of the shopping mall where the transaction was made</a:t>
            </a:r>
            <a:endParaRPr lang="en-IN" sz="1800" b="1" dirty="0"/>
          </a:p>
        </p:txBody>
      </p:sp>
    </p:spTree>
    <p:extLst>
      <p:ext uri="{BB962C8B-B14F-4D97-AF65-F5344CB8AC3E}">
        <p14:creationId xmlns:p14="http://schemas.microsoft.com/office/powerpoint/2010/main" val="192339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64458-15F0-2126-FE55-C317B9191921}"/>
              </a:ext>
            </a:extLst>
          </p:cNvPr>
          <p:cNvSpPr>
            <a:spLocks noGrp="1"/>
          </p:cNvSpPr>
          <p:nvPr>
            <p:ph type="title"/>
          </p:nvPr>
        </p:nvSpPr>
        <p:spPr>
          <a:xfrm>
            <a:off x="2793442" y="553357"/>
            <a:ext cx="9398558" cy="1315636"/>
          </a:xfrm>
        </p:spPr>
        <p:txBody>
          <a:bodyPr/>
          <a:lstStyle/>
          <a:p>
            <a:r>
              <a:rPr lang="en-IN" dirty="0">
                <a:latin typeface="Cooper Black" panose="0208090404030B020404" pitchFamily="18" charset="0"/>
              </a:rPr>
              <a:t>Key Performance Indicators </a:t>
            </a:r>
          </a:p>
        </p:txBody>
      </p:sp>
      <p:pic>
        <p:nvPicPr>
          <p:cNvPr id="8" name="Content Placeholder 7" descr="Money with solid fill">
            <a:extLst>
              <a:ext uri="{FF2B5EF4-FFF2-40B4-BE49-F238E27FC236}">
                <a16:creationId xmlns:a16="http://schemas.microsoft.com/office/drawing/2014/main" id="{20848DD1-F8E1-A89F-1404-C73B02B5EDD3}"/>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110937" y="2120956"/>
            <a:ext cx="560438" cy="498655"/>
          </a:xfrm>
        </p:spPr>
      </p:pic>
      <p:sp>
        <p:nvSpPr>
          <p:cNvPr id="6" name="Rectangle: Rounded Corners 5">
            <a:extLst>
              <a:ext uri="{FF2B5EF4-FFF2-40B4-BE49-F238E27FC236}">
                <a16:creationId xmlns:a16="http://schemas.microsoft.com/office/drawing/2014/main" id="{B908BF69-A808-08B0-E9F1-221C55AEEB67}"/>
              </a:ext>
            </a:extLst>
          </p:cNvPr>
          <p:cNvSpPr/>
          <p:nvPr/>
        </p:nvSpPr>
        <p:spPr>
          <a:xfrm>
            <a:off x="3034954" y="2207560"/>
            <a:ext cx="2821858" cy="1315636"/>
          </a:xfrm>
          <a:prstGeom prst="roundRect">
            <a:avLst/>
          </a:prstGeom>
          <a:noFill/>
          <a:ln w="9525" cap="flat" cmpd="sng" algn="ctr">
            <a:solidFill>
              <a:schemeClr val="tx1"/>
            </a:solidFill>
            <a:prstDash val="solid"/>
            <a:round/>
            <a:headEnd type="none" w="med" len="med"/>
            <a:tailEnd type="none" w="med" len="med"/>
          </a:ln>
          <a:effectLst>
            <a:outerShdw blurRad="76200" dir="18900000" sy="23000" kx="-1200000" algn="bl" rotWithShape="0">
              <a:prstClr val="black">
                <a:alpha val="20000"/>
              </a:prstClr>
            </a:outerShdw>
          </a:effectLst>
        </p:spPr>
        <p:style>
          <a:lnRef idx="0">
            <a:scrgbClr r="0" g="0" b="0"/>
          </a:lnRef>
          <a:fillRef idx="0">
            <a:scrgbClr r="0" g="0" b="0"/>
          </a:fillRef>
          <a:effectRef idx="0">
            <a:scrgbClr r="0" g="0" b="0"/>
          </a:effectRef>
          <a:fontRef idx="minor">
            <a:schemeClr val="accent6"/>
          </a:fontRef>
        </p:style>
        <p:txBody>
          <a:bodyPr rtlCol="0" anchor="ctr"/>
          <a:lstStyle/>
          <a:p>
            <a:endParaRPr lang="en-IN" dirty="0"/>
          </a:p>
          <a:p>
            <a:endParaRPr lang="en-IN" dirty="0"/>
          </a:p>
          <a:p>
            <a:pPr algn="ctr"/>
            <a:r>
              <a:rPr lang="en-IN" sz="2400" dirty="0">
                <a:solidFill>
                  <a:srgbClr val="FFFF00"/>
                </a:solidFill>
                <a:latin typeface="Arial Black" panose="020B0A04020102020204" pitchFamily="34" charset="0"/>
              </a:rPr>
              <a:t>99457</a:t>
            </a:r>
            <a:endParaRPr lang="en-IN" sz="2800" dirty="0">
              <a:solidFill>
                <a:srgbClr val="FFFF00"/>
              </a:solidFill>
              <a:latin typeface="Arial Black" panose="020B0A04020102020204" pitchFamily="34" charset="0"/>
            </a:endParaRPr>
          </a:p>
          <a:p>
            <a:pPr algn="ctr"/>
            <a:r>
              <a:rPr lang="en-IN" sz="1600" b="1" dirty="0">
                <a:solidFill>
                  <a:schemeClr val="tx1"/>
                </a:solidFill>
                <a:latin typeface="Arial" panose="020B0604020202020204" pitchFamily="34" charset="0"/>
                <a:cs typeface="Arial" panose="020B0604020202020204" pitchFamily="34" charset="0"/>
              </a:rPr>
              <a:t>Total Orders</a:t>
            </a:r>
          </a:p>
          <a:p>
            <a:pPr algn="ctr"/>
            <a:endParaRPr lang="en-IN" dirty="0">
              <a:ln w="57150"/>
              <a:solidFill>
                <a:schemeClr val="accent1"/>
              </a:solidFill>
              <a:effectLst>
                <a:glow rad="101600">
                  <a:schemeClr val="accent1">
                    <a:satMod val="175000"/>
                    <a:alpha val="40000"/>
                  </a:schemeClr>
                </a:glow>
                <a:outerShdw blurRad="50800" dist="38100" dir="2700000" algn="tl" rotWithShape="0">
                  <a:prstClr val="black">
                    <a:alpha val="40000"/>
                  </a:prstClr>
                </a:outerShdw>
              </a:effectLst>
            </a:endParaRPr>
          </a:p>
        </p:txBody>
      </p:sp>
      <p:sp>
        <p:nvSpPr>
          <p:cNvPr id="9" name="Rectangle: Rounded Corners 8">
            <a:extLst>
              <a:ext uri="{FF2B5EF4-FFF2-40B4-BE49-F238E27FC236}">
                <a16:creationId xmlns:a16="http://schemas.microsoft.com/office/drawing/2014/main" id="{F458C6ED-2250-94F5-EA31-A768473D6885}"/>
              </a:ext>
            </a:extLst>
          </p:cNvPr>
          <p:cNvSpPr/>
          <p:nvPr/>
        </p:nvSpPr>
        <p:spPr>
          <a:xfrm>
            <a:off x="87167" y="2120956"/>
            <a:ext cx="2821858" cy="1315636"/>
          </a:xfrm>
          <a:prstGeom prst="roundRect">
            <a:avLst/>
          </a:prstGeom>
          <a:noFill/>
          <a:ln w="9525" cap="flat" cmpd="sng" algn="ctr">
            <a:solidFill>
              <a:schemeClr val="tx1"/>
            </a:solidFill>
            <a:prstDash val="solid"/>
            <a:round/>
            <a:headEnd type="none" w="med" len="med"/>
            <a:tailEnd type="none" w="med" len="med"/>
          </a:ln>
          <a:effectLst>
            <a:outerShdw blurRad="76200" dir="18900000" sy="23000" kx="-1200000" algn="bl" rotWithShape="0">
              <a:prstClr val="black">
                <a:alpha val="20000"/>
              </a:prstClr>
            </a:outerShdw>
          </a:effectLst>
        </p:spPr>
        <p:style>
          <a:lnRef idx="0">
            <a:scrgbClr r="0" g="0" b="0"/>
          </a:lnRef>
          <a:fillRef idx="0">
            <a:scrgbClr r="0" g="0" b="0"/>
          </a:fillRef>
          <a:effectRef idx="0">
            <a:scrgbClr r="0" g="0" b="0"/>
          </a:effectRef>
          <a:fontRef idx="minor">
            <a:schemeClr val="accent6"/>
          </a:fontRef>
        </p:style>
        <p:txBody>
          <a:bodyPr rtlCol="0" anchor="ctr"/>
          <a:lstStyle/>
          <a:p>
            <a:endParaRPr lang="en-IN" dirty="0"/>
          </a:p>
          <a:p>
            <a:endParaRPr lang="en-IN" dirty="0"/>
          </a:p>
          <a:p>
            <a:pPr algn="ctr"/>
            <a:r>
              <a:rPr lang="en-IN" sz="2400" dirty="0">
                <a:solidFill>
                  <a:srgbClr val="FFFF00"/>
                </a:solidFill>
                <a:latin typeface="Arial Black" panose="020B0A04020102020204" pitchFamily="34" charset="0"/>
              </a:rPr>
              <a:t>2,51,505.79K</a:t>
            </a:r>
          </a:p>
          <a:p>
            <a:pPr algn="ctr"/>
            <a:r>
              <a:rPr lang="en-IN" sz="1400" b="1" dirty="0">
                <a:solidFill>
                  <a:schemeClr val="tx1"/>
                </a:solidFill>
              </a:rPr>
              <a:t>Total Revenue</a:t>
            </a:r>
          </a:p>
          <a:p>
            <a:pPr algn="ctr"/>
            <a:endParaRPr lang="en-IN" dirty="0">
              <a:ln w="57150"/>
              <a:solidFill>
                <a:schemeClr val="accent1"/>
              </a:solidFill>
              <a:effectLst>
                <a:glow rad="101600">
                  <a:schemeClr val="accent1">
                    <a:satMod val="175000"/>
                    <a:alpha val="40000"/>
                  </a:schemeClr>
                </a:glow>
                <a:outerShdw blurRad="50800" dist="38100" dir="2700000" algn="tl" rotWithShape="0">
                  <a:prstClr val="black">
                    <a:alpha val="40000"/>
                  </a:prstClr>
                </a:outerShdw>
              </a:effectLst>
            </a:endParaRPr>
          </a:p>
        </p:txBody>
      </p:sp>
      <p:pic>
        <p:nvPicPr>
          <p:cNvPr id="11" name="Graphic 10" descr="List with solid fill">
            <a:extLst>
              <a:ext uri="{FF2B5EF4-FFF2-40B4-BE49-F238E27FC236}">
                <a16:creationId xmlns:a16="http://schemas.microsoft.com/office/drawing/2014/main" id="{D2393AB4-FEE3-D911-7462-AFB21F153B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15114" y="2232376"/>
            <a:ext cx="570271" cy="513244"/>
          </a:xfrm>
          <a:prstGeom prst="rect">
            <a:avLst/>
          </a:prstGeom>
        </p:spPr>
      </p:pic>
      <p:sp>
        <p:nvSpPr>
          <p:cNvPr id="14" name="Rectangle: Rounded Corners 13">
            <a:extLst>
              <a:ext uri="{FF2B5EF4-FFF2-40B4-BE49-F238E27FC236}">
                <a16:creationId xmlns:a16="http://schemas.microsoft.com/office/drawing/2014/main" id="{6617E6F2-3738-0B08-AEFD-FB68DEB57C44}"/>
              </a:ext>
            </a:extLst>
          </p:cNvPr>
          <p:cNvSpPr/>
          <p:nvPr/>
        </p:nvSpPr>
        <p:spPr>
          <a:xfrm>
            <a:off x="6001003" y="2225200"/>
            <a:ext cx="2821858" cy="1315636"/>
          </a:xfrm>
          <a:prstGeom prst="roundRect">
            <a:avLst/>
          </a:prstGeom>
          <a:noFill/>
          <a:ln w="9525" cap="flat" cmpd="sng" algn="ctr">
            <a:solidFill>
              <a:schemeClr val="tx1"/>
            </a:solidFill>
            <a:prstDash val="solid"/>
            <a:round/>
            <a:headEnd type="none" w="med" len="med"/>
            <a:tailEnd type="none" w="med" len="med"/>
          </a:ln>
          <a:effectLst>
            <a:outerShdw blurRad="76200" dir="18900000" sy="23000" kx="-1200000" algn="bl" rotWithShape="0">
              <a:prstClr val="black">
                <a:alpha val="20000"/>
              </a:prstClr>
            </a:outerShdw>
          </a:effectLst>
        </p:spPr>
        <p:style>
          <a:lnRef idx="0">
            <a:scrgbClr r="0" g="0" b="0"/>
          </a:lnRef>
          <a:fillRef idx="0">
            <a:scrgbClr r="0" g="0" b="0"/>
          </a:fillRef>
          <a:effectRef idx="0">
            <a:scrgbClr r="0" g="0" b="0"/>
          </a:effectRef>
          <a:fontRef idx="minor">
            <a:schemeClr val="accent6"/>
          </a:fontRef>
        </p:style>
        <p:txBody>
          <a:bodyPr rtlCol="0" anchor="ctr"/>
          <a:lstStyle/>
          <a:p>
            <a:endParaRPr lang="en-IN" dirty="0"/>
          </a:p>
          <a:p>
            <a:endParaRPr lang="en-IN" dirty="0"/>
          </a:p>
          <a:p>
            <a:pPr algn="ctr"/>
            <a:r>
              <a:rPr lang="en-IN" sz="2400" dirty="0">
                <a:solidFill>
                  <a:srgbClr val="FFFF00"/>
                </a:solidFill>
                <a:latin typeface="Arial Black" panose="020B0A04020102020204" pitchFamily="34" charset="0"/>
              </a:rPr>
              <a:t>298712</a:t>
            </a:r>
          </a:p>
          <a:p>
            <a:pPr algn="ctr"/>
            <a:r>
              <a:rPr lang="en-IN" b="1" dirty="0">
                <a:solidFill>
                  <a:schemeClr val="tx1"/>
                </a:solidFill>
              </a:rPr>
              <a:t>Total Quantity</a:t>
            </a:r>
          </a:p>
          <a:p>
            <a:pPr algn="ctr"/>
            <a:endParaRPr lang="en-IN" dirty="0">
              <a:ln w="57150"/>
              <a:solidFill>
                <a:schemeClr val="accent1"/>
              </a:solidFill>
              <a:effectLst>
                <a:glow rad="101600">
                  <a:schemeClr val="accent1">
                    <a:satMod val="175000"/>
                    <a:alpha val="40000"/>
                  </a:schemeClr>
                </a:glow>
                <a:outerShdw blurRad="50800" dist="38100" dir="2700000" algn="tl" rotWithShape="0">
                  <a:prstClr val="black">
                    <a:alpha val="40000"/>
                  </a:prstClr>
                </a:outerShdw>
              </a:effectLst>
            </a:endParaRPr>
          </a:p>
        </p:txBody>
      </p:sp>
      <p:pic>
        <p:nvPicPr>
          <p:cNvPr id="16" name="Graphic 15" descr="Checklist with solid fill">
            <a:extLst>
              <a:ext uri="{FF2B5EF4-FFF2-40B4-BE49-F238E27FC236}">
                <a16:creationId xmlns:a16="http://schemas.microsoft.com/office/drawing/2014/main" id="{E2FF7B49-C066-07D4-E724-14F3B0A7DE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32283" y="2225200"/>
            <a:ext cx="560438" cy="513245"/>
          </a:xfrm>
          <a:prstGeom prst="rect">
            <a:avLst/>
          </a:prstGeom>
        </p:spPr>
      </p:pic>
      <p:sp>
        <p:nvSpPr>
          <p:cNvPr id="19" name="Rectangle: Rounded Corners 18">
            <a:extLst>
              <a:ext uri="{FF2B5EF4-FFF2-40B4-BE49-F238E27FC236}">
                <a16:creationId xmlns:a16="http://schemas.microsoft.com/office/drawing/2014/main" id="{D707A941-74DE-37D4-5DDB-8E367E344267}"/>
              </a:ext>
            </a:extLst>
          </p:cNvPr>
          <p:cNvSpPr/>
          <p:nvPr/>
        </p:nvSpPr>
        <p:spPr>
          <a:xfrm>
            <a:off x="9066370" y="2232376"/>
            <a:ext cx="2821858" cy="1315636"/>
          </a:xfrm>
          <a:prstGeom prst="roundRect">
            <a:avLst/>
          </a:prstGeom>
          <a:noFill/>
          <a:ln w="9525" cap="flat" cmpd="sng" algn="ctr">
            <a:solidFill>
              <a:schemeClr val="tx1"/>
            </a:solidFill>
            <a:prstDash val="solid"/>
            <a:round/>
            <a:headEnd type="none" w="med" len="med"/>
            <a:tailEnd type="none" w="med" len="med"/>
          </a:ln>
          <a:effectLst>
            <a:outerShdw blurRad="76200" dir="18900000" sy="23000" kx="-1200000" algn="bl" rotWithShape="0">
              <a:prstClr val="black">
                <a:alpha val="20000"/>
              </a:prstClr>
            </a:outerShdw>
          </a:effectLst>
        </p:spPr>
        <p:style>
          <a:lnRef idx="0">
            <a:scrgbClr r="0" g="0" b="0"/>
          </a:lnRef>
          <a:fillRef idx="0">
            <a:scrgbClr r="0" g="0" b="0"/>
          </a:fillRef>
          <a:effectRef idx="0">
            <a:scrgbClr r="0" g="0" b="0"/>
          </a:effectRef>
          <a:fontRef idx="minor">
            <a:schemeClr val="accent6"/>
          </a:fontRef>
        </p:style>
        <p:txBody>
          <a:bodyPr rtlCol="0" anchor="ctr"/>
          <a:lstStyle/>
          <a:p>
            <a:endParaRPr lang="en-IN" dirty="0"/>
          </a:p>
          <a:p>
            <a:endParaRPr lang="en-IN" dirty="0"/>
          </a:p>
          <a:p>
            <a:pPr algn="ctr"/>
            <a:r>
              <a:rPr lang="en-IN" sz="2000" b="1" dirty="0">
                <a:solidFill>
                  <a:srgbClr val="FFFF00"/>
                </a:solidFill>
                <a:latin typeface="Arial Black" panose="020B0A04020102020204" pitchFamily="34" charset="0"/>
              </a:rPr>
              <a:t>2,529</a:t>
            </a:r>
          </a:p>
          <a:p>
            <a:pPr algn="ctr"/>
            <a:r>
              <a:rPr lang="en-IN" b="1" dirty="0">
                <a:solidFill>
                  <a:schemeClr val="tx1"/>
                </a:solidFill>
              </a:rPr>
              <a:t>Average Order Value</a:t>
            </a:r>
          </a:p>
          <a:p>
            <a:pPr algn="ctr"/>
            <a:endParaRPr lang="en-IN" dirty="0">
              <a:ln w="57150"/>
              <a:solidFill>
                <a:schemeClr val="accent1"/>
              </a:solidFill>
              <a:effectLst>
                <a:glow rad="101600">
                  <a:schemeClr val="accent1">
                    <a:satMod val="175000"/>
                    <a:alpha val="40000"/>
                  </a:schemeClr>
                </a:glow>
                <a:outerShdw blurRad="50800" dist="38100" dir="2700000" algn="tl" rotWithShape="0">
                  <a:prstClr val="black">
                    <a:alpha val="40000"/>
                  </a:prstClr>
                </a:outerShdw>
              </a:effectLst>
            </a:endParaRPr>
          </a:p>
        </p:txBody>
      </p:sp>
      <p:pic>
        <p:nvPicPr>
          <p:cNvPr id="21" name="Graphic 20" descr="Call center with solid fill">
            <a:extLst>
              <a:ext uri="{FF2B5EF4-FFF2-40B4-BE49-F238E27FC236}">
                <a16:creationId xmlns:a16="http://schemas.microsoft.com/office/drawing/2014/main" id="{D066886A-1A8E-2477-7C52-BF82CF1760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15716" y="2232376"/>
            <a:ext cx="521110" cy="513244"/>
          </a:xfrm>
          <a:prstGeom prst="rect">
            <a:avLst/>
          </a:prstGeom>
        </p:spPr>
      </p:pic>
      <p:sp>
        <p:nvSpPr>
          <p:cNvPr id="22" name="TextBox 21">
            <a:extLst>
              <a:ext uri="{FF2B5EF4-FFF2-40B4-BE49-F238E27FC236}">
                <a16:creationId xmlns:a16="http://schemas.microsoft.com/office/drawing/2014/main" id="{B82EF1B7-E5DD-A712-96FF-2F1BC73F51B1}"/>
              </a:ext>
            </a:extLst>
          </p:cNvPr>
          <p:cNvSpPr txBox="1"/>
          <p:nvPr/>
        </p:nvSpPr>
        <p:spPr>
          <a:xfrm>
            <a:off x="230396" y="3618271"/>
            <a:ext cx="2535399" cy="2862322"/>
          </a:xfrm>
          <a:prstGeom prst="rect">
            <a:avLst/>
          </a:prstGeom>
          <a:noFill/>
        </p:spPr>
        <p:txBody>
          <a:bodyPr wrap="square" rtlCol="0">
            <a:spAutoFit/>
          </a:bodyPr>
          <a:lstStyle/>
          <a:p>
            <a:pPr algn="ctr"/>
            <a:r>
              <a:rPr lang="en-US" sz="6000" b="1" dirty="0"/>
              <a:t>1</a:t>
            </a:r>
            <a:r>
              <a:rPr lang="en-US" sz="5400" b="1" dirty="0"/>
              <a:t> </a:t>
            </a:r>
          </a:p>
          <a:p>
            <a:pPr algn="just"/>
            <a:r>
              <a:rPr lang="en-US" sz="2400" b="1" dirty="0"/>
              <a:t>Total Revenue 	</a:t>
            </a:r>
            <a:r>
              <a:rPr lang="en-US" dirty="0">
                <a:latin typeface="Bahnschrift" panose="020B0502040204020203" pitchFamily="34" charset="0"/>
              </a:rPr>
              <a:t>Aggregate income generated from all customer transactions during the analysis period</a:t>
            </a:r>
            <a:endParaRPr lang="en-IN" dirty="0">
              <a:latin typeface="Bahnschrift" panose="020B0502040204020203" pitchFamily="34" charset="0"/>
            </a:endParaRPr>
          </a:p>
        </p:txBody>
      </p:sp>
      <p:sp>
        <p:nvSpPr>
          <p:cNvPr id="23" name="TextBox 22">
            <a:extLst>
              <a:ext uri="{FF2B5EF4-FFF2-40B4-BE49-F238E27FC236}">
                <a16:creationId xmlns:a16="http://schemas.microsoft.com/office/drawing/2014/main" id="{6ED02891-CFD0-EBF0-2E44-5429C0C1E564}"/>
              </a:ext>
            </a:extLst>
          </p:cNvPr>
          <p:cNvSpPr txBox="1"/>
          <p:nvPr/>
        </p:nvSpPr>
        <p:spPr>
          <a:xfrm>
            <a:off x="3218700" y="3618271"/>
            <a:ext cx="2163097" cy="2862322"/>
          </a:xfrm>
          <a:prstGeom prst="rect">
            <a:avLst/>
          </a:prstGeom>
          <a:noFill/>
        </p:spPr>
        <p:txBody>
          <a:bodyPr wrap="square" rtlCol="0">
            <a:spAutoFit/>
          </a:bodyPr>
          <a:lstStyle/>
          <a:p>
            <a:pPr algn="ctr"/>
            <a:r>
              <a:rPr lang="en-US" sz="6000" b="1" dirty="0"/>
              <a:t>2</a:t>
            </a:r>
            <a:r>
              <a:rPr lang="en-US" sz="4800" b="1" dirty="0"/>
              <a:t> </a:t>
            </a:r>
          </a:p>
          <a:p>
            <a:pPr algn="just"/>
            <a:r>
              <a:rPr lang="en-US" sz="2400" b="1" dirty="0"/>
              <a:t>Total Orders 	</a:t>
            </a:r>
            <a:r>
              <a:rPr lang="en-US" dirty="0">
                <a:latin typeface="Bahnschrift" panose="020B0502040204020203" pitchFamily="34" charset="0"/>
              </a:rPr>
              <a:t>Count of unique purchase transactions recorded across all channels </a:t>
            </a:r>
            <a:endParaRPr lang="en-IN" dirty="0">
              <a:latin typeface="Bahnschrift" panose="020B0502040204020203" pitchFamily="34" charset="0"/>
            </a:endParaRPr>
          </a:p>
        </p:txBody>
      </p:sp>
      <p:sp>
        <p:nvSpPr>
          <p:cNvPr id="24" name="TextBox 23">
            <a:extLst>
              <a:ext uri="{FF2B5EF4-FFF2-40B4-BE49-F238E27FC236}">
                <a16:creationId xmlns:a16="http://schemas.microsoft.com/office/drawing/2014/main" id="{D284C42A-8137-913E-07E5-7B8CED58FA5B}"/>
              </a:ext>
            </a:extLst>
          </p:cNvPr>
          <p:cNvSpPr txBox="1"/>
          <p:nvPr/>
        </p:nvSpPr>
        <p:spPr>
          <a:xfrm>
            <a:off x="6081792" y="3548012"/>
            <a:ext cx="2821858" cy="2308324"/>
          </a:xfrm>
          <a:prstGeom prst="rect">
            <a:avLst/>
          </a:prstGeom>
          <a:noFill/>
        </p:spPr>
        <p:txBody>
          <a:bodyPr wrap="square" rtlCol="0">
            <a:spAutoFit/>
          </a:bodyPr>
          <a:lstStyle/>
          <a:p>
            <a:pPr algn="ctr"/>
            <a:r>
              <a:rPr lang="en-US" sz="6600" b="1" dirty="0"/>
              <a:t>3</a:t>
            </a:r>
            <a:r>
              <a:rPr lang="en-US" sz="5400" b="1" dirty="0"/>
              <a:t> </a:t>
            </a:r>
          </a:p>
          <a:p>
            <a:pPr algn="ctr"/>
            <a:r>
              <a:rPr lang="en-US" sz="2400" b="1" dirty="0"/>
              <a:t>Total Quantity </a:t>
            </a:r>
          </a:p>
          <a:p>
            <a:pPr algn="just"/>
            <a:r>
              <a:rPr lang="en-US" dirty="0"/>
              <a:t>		</a:t>
            </a:r>
            <a:r>
              <a:rPr lang="en-US" dirty="0">
                <a:latin typeface="Bahnschrift" panose="020B0502040204020203" pitchFamily="34" charset="0"/>
              </a:rPr>
              <a:t>Sold Sum of all individual items sold across every transaction</a:t>
            </a:r>
            <a:endParaRPr lang="en-IN" dirty="0">
              <a:latin typeface="Bahnschrift" panose="020B0502040204020203" pitchFamily="34" charset="0"/>
            </a:endParaRPr>
          </a:p>
        </p:txBody>
      </p:sp>
      <p:sp>
        <p:nvSpPr>
          <p:cNvPr id="29" name="TextBox 22">
            <a:extLst>
              <a:ext uri="{FF2B5EF4-FFF2-40B4-BE49-F238E27FC236}">
                <a16:creationId xmlns:a16="http://schemas.microsoft.com/office/drawing/2014/main" id="{6ED02891-CFD0-EBF0-2E44-5429C0C1E564}"/>
              </a:ext>
            </a:extLst>
          </p:cNvPr>
          <p:cNvSpPr txBox="1"/>
          <p:nvPr/>
        </p:nvSpPr>
        <p:spPr>
          <a:xfrm>
            <a:off x="9066370" y="3618271"/>
            <a:ext cx="2742172" cy="29546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6000" b="1" dirty="0"/>
              <a:t>4</a:t>
            </a:r>
            <a:endParaRPr lang="en-US" sz="4800" b="1" dirty="0"/>
          </a:p>
          <a:p>
            <a:pPr algn="just"/>
            <a:r>
              <a:rPr lang="en-IN" sz="2400" b="1" dirty="0"/>
              <a:t>Average Order Value</a:t>
            </a:r>
          </a:p>
          <a:p>
            <a:pPr algn="just"/>
            <a:r>
              <a:rPr lang="en-US" sz="2400" b="1" dirty="0"/>
              <a:t>	</a:t>
            </a:r>
            <a:r>
              <a:rPr lang="en-US" dirty="0">
                <a:latin typeface="Bahnschrift" panose="020B0502040204020203" pitchFamily="34" charset="0"/>
              </a:rPr>
              <a:t>Count of unique purchase transactions recorded across all channels </a:t>
            </a:r>
            <a:endParaRPr lang="en-IN" dirty="0">
              <a:latin typeface="Bahnschrift" panose="020B0502040204020203" pitchFamily="34" charset="0"/>
            </a:endParaRPr>
          </a:p>
        </p:txBody>
      </p:sp>
    </p:spTree>
    <p:extLst>
      <p:ext uri="{BB962C8B-B14F-4D97-AF65-F5344CB8AC3E}">
        <p14:creationId xmlns:p14="http://schemas.microsoft.com/office/powerpoint/2010/main" val="2762821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33C4-C718-9F54-4187-19431F903FC5}"/>
              </a:ext>
            </a:extLst>
          </p:cNvPr>
          <p:cNvSpPr>
            <a:spLocks noGrp="1"/>
          </p:cNvSpPr>
          <p:nvPr>
            <p:ph type="title"/>
          </p:nvPr>
        </p:nvSpPr>
        <p:spPr>
          <a:xfrm>
            <a:off x="3141406" y="341586"/>
            <a:ext cx="8610600" cy="1293028"/>
          </a:xfrm>
        </p:spPr>
        <p:txBody>
          <a:bodyPr/>
          <a:lstStyle/>
          <a:p>
            <a:r>
              <a:rPr lang="en-IN" dirty="0">
                <a:latin typeface="Cooper Black" panose="0208090404030B020404" pitchFamily="18" charset="0"/>
              </a:rPr>
              <a:t>Customer Insights</a:t>
            </a:r>
          </a:p>
        </p:txBody>
      </p:sp>
      <p:sp>
        <p:nvSpPr>
          <p:cNvPr id="3" name="Content Placeholder 2">
            <a:extLst>
              <a:ext uri="{FF2B5EF4-FFF2-40B4-BE49-F238E27FC236}">
                <a16:creationId xmlns:a16="http://schemas.microsoft.com/office/drawing/2014/main" id="{5009CEC4-4406-EFD3-49E7-D5B88D99CBAA}"/>
              </a:ext>
            </a:extLst>
          </p:cNvPr>
          <p:cNvSpPr>
            <a:spLocks noGrp="1"/>
          </p:cNvSpPr>
          <p:nvPr>
            <p:ph idx="1"/>
          </p:nvPr>
        </p:nvSpPr>
        <p:spPr>
          <a:xfrm>
            <a:off x="304801" y="1877962"/>
            <a:ext cx="8318090" cy="4638452"/>
          </a:xfrm>
        </p:spPr>
        <p:txBody>
          <a:bodyPr>
            <a:normAutofit fontScale="85000" lnSpcReduction="20000"/>
          </a:bodyPr>
          <a:lstStyle/>
          <a:p>
            <a:pPr marL="0" indent="0">
              <a:buNone/>
            </a:pPr>
            <a:r>
              <a:rPr lang="en-US" sz="2400" b="1" dirty="0"/>
              <a:t>Demographics Drive Revenue :</a:t>
            </a:r>
          </a:p>
          <a:p>
            <a:pPr marL="0" indent="0">
              <a:buNone/>
            </a:pPr>
            <a:r>
              <a:rPr lang="en-US" dirty="0"/>
              <a:t>Customer segmentation analysis reveals significant patterns in purchasing behavior across gender and age groups. </a:t>
            </a:r>
          </a:p>
          <a:p>
            <a:pPr marL="0" indent="0">
              <a:buNone/>
            </a:pPr>
            <a:endParaRPr lang="en-US" dirty="0"/>
          </a:p>
          <a:p>
            <a:pPr marL="0" indent="0">
              <a:buNone/>
            </a:pPr>
            <a:r>
              <a:rPr lang="en-US" sz="2400" b="1" dirty="0"/>
              <a:t>Female customers lead in revenue: </a:t>
            </a:r>
          </a:p>
          <a:p>
            <a:pPr marL="0" indent="0">
              <a:buNone/>
            </a:pPr>
            <a:r>
              <a:rPr lang="en-US" dirty="0"/>
              <a:t>Women generate higher total revenue and purchase more items per transaction on average </a:t>
            </a:r>
          </a:p>
          <a:p>
            <a:pPr marL="0" indent="0">
              <a:buNone/>
            </a:pPr>
            <a:endParaRPr lang="en-US" dirty="0"/>
          </a:p>
          <a:p>
            <a:pPr marL="0" indent="0">
              <a:buNone/>
            </a:pPr>
            <a:r>
              <a:rPr lang="en-US" sz="2400" b="1" dirty="0"/>
              <a:t>Age group 46–60 dominates spending :</a:t>
            </a:r>
          </a:p>
          <a:p>
            <a:pPr marL="0" indent="0">
              <a:buNone/>
            </a:pPr>
            <a:r>
              <a:rPr lang="en-US" dirty="0"/>
              <a:t> This demographic contributes the highest revenue share, representing peak earning and spending years </a:t>
            </a:r>
          </a:p>
          <a:p>
            <a:pPr marL="0" indent="0">
              <a:buNone/>
            </a:pPr>
            <a:endParaRPr lang="en-US" dirty="0"/>
          </a:p>
          <a:p>
            <a:pPr marL="0" indent="0">
              <a:buNone/>
            </a:pPr>
            <a:r>
              <a:rPr lang="en-US" sz="2400" b="1" dirty="0"/>
              <a:t>Younger and older segments lag :</a:t>
            </a:r>
          </a:p>
          <a:p>
            <a:pPr marL="0" indent="0">
              <a:buNone/>
            </a:pPr>
            <a:r>
              <a:rPr lang="en-US" dirty="0"/>
              <a:t>Ages 18–25 and 60+ show notably lower spending behavior, presenting growth opportunities</a:t>
            </a:r>
            <a:endParaRPr lang="en-IN" dirty="0"/>
          </a:p>
        </p:txBody>
      </p:sp>
    </p:spTree>
    <p:extLst>
      <p:ext uri="{BB962C8B-B14F-4D97-AF65-F5344CB8AC3E}">
        <p14:creationId xmlns:p14="http://schemas.microsoft.com/office/powerpoint/2010/main" val="468217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23D5-7970-2221-69CA-66FB5CBBE869}"/>
              </a:ext>
            </a:extLst>
          </p:cNvPr>
          <p:cNvSpPr>
            <a:spLocks noGrp="1"/>
          </p:cNvSpPr>
          <p:nvPr>
            <p:ph type="title"/>
          </p:nvPr>
        </p:nvSpPr>
        <p:spPr>
          <a:xfrm>
            <a:off x="3637935" y="292425"/>
            <a:ext cx="8064910" cy="1133252"/>
          </a:xfrm>
        </p:spPr>
        <p:txBody>
          <a:bodyPr/>
          <a:lstStyle/>
          <a:p>
            <a:r>
              <a:rPr lang="en-IN" dirty="0">
                <a:latin typeface="Cooper Black" panose="0208090404030B020404" pitchFamily="18" charset="0"/>
              </a:rPr>
              <a:t>Category Insights</a:t>
            </a:r>
          </a:p>
        </p:txBody>
      </p:sp>
      <p:sp>
        <p:nvSpPr>
          <p:cNvPr id="3" name="Content Placeholder 2">
            <a:extLst>
              <a:ext uri="{FF2B5EF4-FFF2-40B4-BE49-F238E27FC236}">
                <a16:creationId xmlns:a16="http://schemas.microsoft.com/office/drawing/2014/main" id="{8EB23353-70D6-E69A-5EC2-9371E6F4BF6E}"/>
              </a:ext>
            </a:extLst>
          </p:cNvPr>
          <p:cNvSpPr>
            <a:spLocks noGrp="1"/>
          </p:cNvSpPr>
          <p:nvPr>
            <p:ph idx="1"/>
          </p:nvPr>
        </p:nvSpPr>
        <p:spPr>
          <a:xfrm>
            <a:off x="685800" y="2448232"/>
            <a:ext cx="10820400" cy="3465654"/>
          </a:xfrm>
        </p:spPr>
        <p:txBody>
          <a:bodyPr/>
          <a:lstStyle/>
          <a:p>
            <a:r>
              <a:rPr lang="en-US" sz="2400" b="1" dirty="0"/>
              <a:t>Top Performer: </a:t>
            </a:r>
            <a:r>
              <a:rPr lang="en-US" dirty="0"/>
              <a:t>Clothing </a:t>
            </a:r>
            <a:r>
              <a:rPr lang="en-US" dirty="0" err="1"/>
              <a:t>Clothing</a:t>
            </a:r>
            <a:r>
              <a:rPr lang="en-US" dirty="0"/>
              <a:t> dominates revenue generation, representing the strongest product category with consistent </a:t>
            </a:r>
            <a:r>
              <a:rPr lang="en-US" dirty="0" err="1"/>
              <a:t>highvolume</a:t>
            </a:r>
            <a:r>
              <a:rPr lang="en-US" dirty="0"/>
              <a:t> sales</a:t>
            </a:r>
          </a:p>
          <a:p>
            <a:endParaRPr lang="en-US" dirty="0"/>
          </a:p>
          <a:p>
            <a:r>
              <a:rPr lang="en-US" sz="2400" b="1" dirty="0"/>
              <a:t>Strong Contributors :</a:t>
            </a:r>
            <a:r>
              <a:rPr lang="en-US" dirty="0"/>
              <a:t>Shoes and Technology rank as the next best-performing categories, showing healthy demand and growth potential</a:t>
            </a:r>
          </a:p>
          <a:p>
            <a:pPr marL="0" indent="0">
              <a:buNone/>
            </a:pPr>
            <a:endParaRPr lang="en-US" dirty="0"/>
          </a:p>
          <a:p>
            <a:r>
              <a:rPr lang="en-US" sz="2400" b="1" dirty="0"/>
              <a:t>Underperformers:</a:t>
            </a:r>
            <a:r>
              <a:rPr lang="en-US" dirty="0"/>
              <a:t> Books, Souvenirs, Food &amp; Beverage, and Toys demonstrate lower purchase volumes, requiring strategic intervention</a:t>
            </a:r>
            <a:endParaRPr lang="en-IN" dirty="0"/>
          </a:p>
        </p:txBody>
      </p:sp>
    </p:spTree>
    <p:extLst>
      <p:ext uri="{BB962C8B-B14F-4D97-AF65-F5344CB8AC3E}">
        <p14:creationId xmlns:p14="http://schemas.microsoft.com/office/powerpoint/2010/main" val="4265066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7F08-F842-1367-8328-D10A824589C5}"/>
              </a:ext>
            </a:extLst>
          </p:cNvPr>
          <p:cNvSpPr>
            <a:spLocks noGrp="1"/>
          </p:cNvSpPr>
          <p:nvPr>
            <p:ph type="title"/>
          </p:nvPr>
        </p:nvSpPr>
        <p:spPr>
          <a:xfrm>
            <a:off x="2895600" y="764373"/>
            <a:ext cx="8610600" cy="1103756"/>
          </a:xfrm>
        </p:spPr>
        <p:txBody>
          <a:bodyPr/>
          <a:lstStyle/>
          <a:p>
            <a:r>
              <a:rPr lang="en-IN" dirty="0">
                <a:latin typeface="Cooper Black" panose="0208090404030B020404" pitchFamily="18" charset="0"/>
              </a:rPr>
              <a:t>Shopping mall Insights</a:t>
            </a:r>
          </a:p>
        </p:txBody>
      </p:sp>
      <p:sp>
        <p:nvSpPr>
          <p:cNvPr id="3" name="Content Placeholder 2">
            <a:extLst>
              <a:ext uri="{FF2B5EF4-FFF2-40B4-BE49-F238E27FC236}">
                <a16:creationId xmlns:a16="http://schemas.microsoft.com/office/drawing/2014/main" id="{0901FB5F-0A87-6D75-F307-F039371B4FE8}"/>
              </a:ext>
            </a:extLst>
          </p:cNvPr>
          <p:cNvSpPr>
            <a:spLocks noGrp="1"/>
          </p:cNvSpPr>
          <p:nvPr>
            <p:ph idx="1"/>
          </p:nvPr>
        </p:nvSpPr>
        <p:spPr/>
        <p:txBody>
          <a:bodyPr/>
          <a:lstStyle/>
          <a:p>
            <a:pPr marL="0" indent="0">
              <a:buNone/>
            </a:pPr>
            <a:r>
              <a:rPr lang="en-US" b="1" dirty="0"/>
              <a:t>1</a:t>
            </a:r>
            <a:r>
              <a:rPr lang="en-US" dirty="0"/>
              <a:t> </a:t>
            </a:r>
            <a:r>
              <a:rPr lang="en-US" sz="2400" b="1" dirty="0"/>
              <a:t>Top Performers: </a:t>
            </a:r>
            <a:r>
              <a:rPr lang="en-US" dirty="0"/>
              <a:t>Mall of Istanbul &amp; Kanyon Our leading locations, consistently achieving the highest sales volumes and customer engagement.</a:t>
            </a:r>
          </a:p>
          <a:p>
            <a:pPr marL="0" indent="0">
              <a:buNone/>
            </a:pPr>
            <a:endParaRPr lang="en-US" dirty="0"/>
          </a:p>
          <a:p>
            <a:pPr marL="0" indent="0">
              <a:buNone/>
            </a:pPr>
            <a:r>
              <a:rPr lang="en-US" sz="2400" b="1" dirty="0"/>
              <a:t>2 Medium Performers: </a:t>
            </a:r>
            <a:r>
              <a:rPr lang="en-US" dirty="0" err="1"/>
              <a:t>Metrocity</a:t>
            </a:r>
            <a:r>
              <a:rPr lang="en-US" dirty="0"/>
              <a:t> &amp; Metropol AVM Demonstrating healthy demand and contributing steadily to our regional revenue </a:t>
            </a:r>
          </a:p>
          <a:p>
            <a:pPr marL="0" indent="0">
              <a:buNone/>
            </a:pPr>
            <a:endParaRPr lang="en-US" dirty="0"/>
          </a:p>
          <a:p>
            <a:pPr marL="0" indent="0">
              <a:buNone/>
            </a:pPr>
            <a:r>
              <a:rPr lang="en-US" sz="2400" b="1" dirty="0"/>
              <a:t>3 Lower Performers: </a:t>
            </a:r>
            <a:r>
              <a:rPr lang="en-US" dirty="0"/>
              <a:t>Remaining Malls Exhibit lower purchase volumes and consistent sales trends, indicating areas that require strategic intervention and targeted improvement.</a:t>
            </a:r>
            <a:endParaRPr lang="en-IN" dirty="0"/>
          </a:p>
        </p:txBody>
      </p:sp>
    </p:spTree>
    <p:extLst>
      <p:ext uri="{BB962C8B-B14F-4D97-AF65-F5344CB8AC3E}">
        <p14:creationId xmlns:p14="http://schemas.microsoft.com/office/powerpoint/2010/main" val="987850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3899-FFF5-A79F-5C91-48BF1886C507}"/>
              </a:ext>
            </a:extLst>
          </p:cNvPr>
          <p:cNvSpPr>
            <a:spLocks noGrp="1"/>
          </p:cNvSpPr>
          <p:nvPr>
            <p:ph type="title"/>
          </p:nvPr>
        </p:nvSpPr>
        <p:spPr/>
        <p:txBody>
          <a:bodyPr/>
          <a:lstStyle/>
          <a:p>
            <a:r>
              <a:rPr lang="en-IN" dirty="0">
                <a:latin typeface="Cooper Black" panose="0208090404030B020404" pitchFamily="18" charset="0"/>
              </a:rPr>
              <a:t>Payment Method Insights</a:t>
            </a:r>
          </a:p>
        </p:txBody>
      </p:sp>
      <p:sp>
        <p:nvSpPr>
          <p:cNvPr id="3" name="Content Placeholder 2">
            <a:extLst>
              <a:ext uri="{FF2B5EF4-FFF2-40B4-BE49-F238E27FC236}">
                <a16:creationId xmlns:a16="http://schemas.microsoft.com/office/drawing/2014/main" id="{48B2B321-069B-8B82-0E8F-BECEE503B37A}"/>
              </a:ext>
            </a:extLst>
          </p:cNvPr>
          <p:cNvSpPr>
            <a:spLocks noGrp="1"/>
          </p:cNvSpPr>
          <p:nvPr>
            <p:ph idx="1"/>
          </p:nvPr>
        </p:nvSpPr>
        <p:spPr>
          <a:xfrm>
            <a:off x="616975" y="3000805"/>
            <a:ext cx="2676832" cy="1964485"/>
          </a:xfrm>
        </p:spPr>
        <p:txBody>
          <a:bodyPr>
            <a:normAutofit fontScale="92500" lnSpcReduction="10000"/>
          </a:bodyPr>
          <a:lstStyle/>
          <a:p>
            <a:pPr marL="0" indent="0" algn="ctr">
              <a:buNone/>
            </a:pPr>
            <a:r>
              <a:rPr lang="en-US" sz="3600" b="1" dirty="0"/>
              <a:t>44.86%</a:t>
            </a:r>
          </a:p>
          <a:p>
            <a:pPr marL="0" indent="0" algn="just">
              <a:buNone/>
            </a:pPr>
            <a:r>
              <a:rPr lang="en-US" dirty="0"/>
              <a:t> 	</a:t>
            </a:r>
            <a:r>
              <a:rPr lang="en-US" sz="3000" b="1" dirty="0">
                <a:solidFill>
                  <a:schemeClr val="accent1">
                    <a:lumMod val="20000"/>
                    <a:lumOff val="80000"/>
                  </a:schemeClr>
                </a:solidFill>
                <a:latin typeface="Bahnschrift" panose="020B0502040204020203" pitchFamily="34" charset="0"/>
              </a:rPr>
              <a:t>Cash</a:t>
            </a:r>
            <a:r>
              <a:rPr lang="en-US" b="1" dirty="0">
                <a:latin typeface="Bahnschrift" panose="020B0502040204020203" pitchFamily="34" charset="0"/>
              </a:rPr>
              <a:t> Dominates Most preferred payment method across all transactions</a:t>
            </a:r>
            <a:endParaRPr lang="en-IN" b="1" dirty="0">
              <a:latin typeface="Bahnschrift" panose="020B0502040204020203" pitchFamily="34" charset="0"/>
            </a:endParaRPr>
          </a:p>
        </p:txBody>
      </p:sp>
      <p:sp>
        <p:nvSpPr>
          <p:cNvPr id="6" name="TextBox 5">
            <a:extLst>
              <a:ext uri="{FF2B5EF4-FFF2-40B4-BE49-F238E27FC236}">
                <a16:creationId xmlns:a16="http://schemas.microsoft.com/office/drawing/2014/main" id="{03C9C28D-4B72-599E-F9E7-E1D568FB6588}"/>
              </a:ext>
            </a:extLst>
          </p:cNvPr>
          <p:cNvSpPr txBox="1"/>
          <p:nvPr/>
        </p:nvSpPr>
        <p:spPr>
          <a:xfrm>
            <a:off x="4866967" y="2687743"/>
            <a:ext cx="2153265" cy="2277547"/>
          </a:xfrm>
          <a:prstGeom prst="rect">
            <a:avLst/>
          </a:prstGeom>
          <a:noFill/>
        </p:spPr>
        <p:txBody>
          <a:bodyPr wrap="square" rtlCol="0">
            <a:spAutoFit/>
          </a:bodyPr>
          <a:lstStyle/>
          <a:p>
            <a:pPr algn="ctr"/>
            <a:r>
              <a:rPr lang="en-US" sz="4000" b="1" dirty="0"/>
              <a:t>2nd </a:t>
            </a:r>
          </a:p>
          <a:p>
            <a:pPr algn="just"/>
            <a:r>
              <a:rPr lang="en-US" sz="2400" b="1" dirty="0"/>
              <a:t>Credit Cards 	</a:t>
            </a:r>
            <a:r>
              <a:rPr lang="en-US" dirty="0">
                <a:latin typeface="Bahnschrift" panose="020B0502040204020203" pitchFamily="34" charset="0"/>
              </a:rPr>
              <a:t>Rising Second most popular with growing adoption rates</a:t>
            </a:r>
            <a:endParaRPr lang="en-IN" dirty="0">
              <a:latin typeface="Bahnschrift" panose="020B0502040204020203" pitchFamily="34" charset="0"/>
            </a:endParaRPr>
          </a:p>
        </p:txBody>
      </p:sp>
      <p:sp>
        <p:nvSpPr>
          <p:cNvPr id="7" name="TextBox 6">
            <a:extLst>
              <a:ext uri="{FF2B5EF4-FFF2-40B4-BE49-F238E27FC236}">
                <a16:creationId xmlns:a16="http://schemas.microsoft.com/office/drawing/2014/main" id="{EEF55C50-1120-2768-F3DE-10250DE93851}"/>
              </a:ext>
            </a:extLst>
          </p:cNvPr>
          <p:cNvSpPr txBox="1"/>
          <p:nvPr/>
        </p:nvSpPr>
        <p:spPr>
          <a:xfrm>
            <a:off x="9026014" y="2548527"/>
            <a:ext cx="2153265" cy="2185214"/>
          </a:xfrm>
          <a:prstGeom prst="rect">
            <a:avLst/>
          </a:prstGeom>
          <a:noFill/>
        </p:spPr>
        <p:txBody>
          <a:bodyPr wrap="square" rtlCol="0">
            <a:spAutoFit/>
          </a:bodyPr>
          <a:lstStyle/>
          <a:p>
            <a:pPr algn="ctr"/>
            <a:r>
              <a:rPr lang="en-US" sz="4000" b="1" dirty="0"/>
              <a:t>3rd </a:t>
            </a:r>
          </a:p>
          <a:p>
            <a:pPr algn="ctr"/>
            <a:r>
              <a:rPr lang="en-US" sz="2400" b="1" dirty="0"/>
              <a:t>Debit Card </a:t>
            </a:r>
          </a:p>
          <a:p>
            <a:pPr algn="ctr"/>
            <a:r>
              <a:rPr lang="en-US" dirty="0">
                <a:latin typeface="Bahnschrift" panose="020B0502040204020203" pitchFamily="34" charset="0"/>
              </a:rPr>
              <a:t>	Lags Contributes the smallest share of payment methods</a:t>
            </a:r>
            <a:endParaRPr lang="en-IN" dirty="0">
              <a:latin typeface="Bahnschrift" panose="020B0502040204020203" pitchFamily="34" charset="0"/>
            </a:endParaRPr>
          </a:p>
        </p:txBody>
      </p:sp>
      <p:sp>
        <p:nvSpPr>
          <p:cNvPr id="8" name="TextBox 7">
            <a:extLst>
              <a:ext uri="{FF2B5EF4-FFF2-40B4-BE49-F238E27FC236}">
                <a16:creationId xmlns:a16="http://schemas.microsoft.com/office/drawing/2014/main" id="{2FA3CDD8-CFFC-E2FA-63C4-23CA967FC4AB}"/>
              </a:ext>
            </a:extLst>
          </p:cNvPr>
          <p:cNvSpPr txBox="1"/>
          <p:nvPr/>
        </p:nvSpPr>
        <p:spPr>
          <a:xfrm>
            <a:off x="511277" y="5987845"/>
            <a:ext cx="11680723" cy="646331"/>
          </a:xfrm>
          <a:prstGeom prst="rect">
            <a:avLst/>
          </a:prstGeom>
          <a:noFill/>
        </p:spPr>
        <p:txBody>
          <a:bodyPr wrap="square" rtlCol="0">
            <a:spAutoFit/>
          </a:bodyPr>
          <a:lstStyle/>
          <a:p>
            <a:r>
              <a:rPr lang="en-US" dirty="0">
                <a:latin typeface="Arial Narrow" panose="020B0606020202030204" pitchFamily="34" charset="0"/>
              </a:rPr>
              <a:t>		Despite the digital transformation trend, cash remains king in customer transactions. Credit card usage shows promising growth momentum, suggesting an opportunity to incentivize digital payment adoption through loyalty programs and targeted promotions.</a:t>
            </a:r>
            <a:endParaRPr lang="en-IN" dirty="0">
              <a:latin typeface="Arial Narrow" panose="020B0606020202030204" pitchFamily="34" charset="0"/>
            </a:endParaRPr>
          </a:p>
        </p:txBody>
      </p:sp>
    </p:spTree>
    <p:extLst>
      <p:ext uri="{BB962C8B-B14F-4D97-AF65-F5344CB8AC3E}">
        <p14:creationId xmlns:p14="http://schemas.microsoft.com/office/powerpoint/2010/main" val="275303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7845-E8F8-4C1A-5B4F-399422557D6A}"/>
              </a:ext>
            </a:extLst>
          </p:cNvPr>
          <p:cNvSpPr>
            <a:spLocks noGrp="1"/>
          </p:cNvSpPr>
          <p:nvPr>
            <p:ph type="title"/>
          </p:nvPr>
        </p:nvSpPr>
        <p:spPr/>
        <p:txBody>
          <a:bodyPr/>
          <a:lstStyle/>
          <a:p>
            <a:r>
              <a:rPr lang="en-IN" dirty="0">
                <a:latin typeface="Cooper Black" panose="0208090404030B020404" pitchFamily="18" charset="0"/>
              </a:rPr>
              <a:t>Revenue Trends Over Time</a:t>
            </a:r>
          </a:p>
        </p:txBody>
      </p:sp>
      <p:sp>
        <p:nvSpPr>
          <p:cNvPr id="3" name="Content Placeholder 2">
            <a:extLst>
              <a:ext uri="{FF2B5EF4-FFF2-40B4-BE49-F238E27FC236}">
                <a16:creationId xmlns:a16="http://schemas.microsoft.com/office/drawing/2014/main" id="{FB045F35-734F-4D2A-C14D-D40E527BFA3C}"/>
              </a:ext>
            </a:extLst>
          </p:cNvPr>
          <p:cNvSpPr>
            <a:spLocks noGrp="1"/>
          </p:cNvSpPr>
          <p:nvPr>
            <p:ph idx="1"/>
          </p:nvPr>
        </p:nvSpPr>
        <p:spPr/>
        <p:txBody>
          <a:bodyPr>
            <a:normAutofit fontScale="92500" lnSpcReduction="20000"/>
          </a:bodyPr>
          <a:lstStyle/>
          <a:p>
            <a:pPr marL="0" indent="0">
              <a:buNone/>
            </a:pPr>
            <a:r>
              <a:rPr lang="en-US" sz="4000" b="1" dirty="0"/>
              <a:t>1</a:t>
            </a:r>
          </a:p>
          <a:p>
            <a:pPr marL="0" indent="0">
              <a:buNone/>
            </a:pPr>
            <a:r>
              <a:rPr lang="en-US" dirty="0"/>
              <a:t> </a:t>
            </a:r>
            <a:r>
              <a:rPr lang="en-US" sz="2400" b="1" dirty="0"/>
              <a:t>2021</a:t>
            </a:r>
            <a:r>
              <a:rPr lang="en-US" dirty="0"/>
              <a:t>: </a:t>
            </a:r>
            <a:r>
              <a:rPr lang="en-US" dirty="0">
                <a:latin typeface="Agency FB" panose="020B0503020202020204" pitchFamily="34" charset="0"/>
              </a:rPr>
              <a:t>Stable Performance Revenue maintained consistent levels throughout the year with predictable seasonal patterns </a:t>
            </a:r>
          </a:p>
          <a:p>
            <a:pPr marL="0" indent="0">
              <a:buNone/>
            </a:pPr>
            <a:endParaRPr lang="en-US" dirty="0">
              <a:latin typeface="Agency FB" panose="020B0503020202020204" pitchFamily="34" charset="0"/>
            </a:endParaRPr>
          </a:p>
          <a:p>
            <a:pPr marL="0" indent="0">
              <a:buNone/>
            </a:pPr>
            <a:r>
              <a:rPr lang="en-US" sz="4000" b="1" dirty="0"/>
              <a:t>2</a:t>
            </a:r>
            <a:r>
              <a:rPr lang="en-US" sz="3200" b="1" dirty="0"/>
              <a:t> </a:t>
            </a:r>
          </a:p>
          <a:p>
            <a:pPr marL="0" indent="0">
              <a:buNone/>
            </a:pPr>
            <a:r>
              <a:rPr lang="en-US" sz="2800" b="1" dirty="0"/>
              <a:t>2022: </a:t>
            </a:r>
            <a:r>
              <a:rPr lang="en-US" dirty="0">
                <a:latin typeface="Agency FB" panose="020B0503020202020204" pitchFamily="34" charset="0"/>
              </a:rPr>
              <a:t>Continued Stability Similar performance to 2021, showing business resilience and steady customer engagement</a:t>
            </a:r>
          </a:p>
          <a:p>
            <a:pPr marL="0" indent="0">
              <a:buNone/>
            </a:pPr>
            <a:endParaRPr lang="en-US" dirty="0">
              <a:latin typeface="Agency FB" panose="020B0503020202020204" pitchFamily="34" charset="0"/>
            </a:endParaRPr>
          </a:p>
          <a:p>
            <a:pPr marL="0" indent="0">
              <a:buNone/>
            </a:pPr>
            <a:r>
              <a:rPr lang="en-US" sz="4300" b="1" dirty="0"/>
              <a:t>3</a:t>
            </a:r>
            <a:r>
              <a:rPr lang="en-US" dirty="0"/>
              <a:t> </a:t>
            </a:r>
          </a:p>
          <a:p>
            <a:pPr marL="0" indent="0">
              <a:buNone/>
            </a:pPr>
            <a:r>
              <a:rPr lang="en-US" sz="3000" b="1" dirty="0"/>
              <a:t>2023: </a:t>
            </a:r>
            <a:r>
              <a:rPr lang="en-US" dirty="0">
                <a:latin typeface="Agency FB" panose="020B0503020202020204" pitchFamily="34" charset="0"/>
              </a:rPr>
              <a:t>Sharp Decline Critical revenue drop signals urgent need for investigation into market conditions, operational issues, or competitive pressures</a:t>
            </a:r>
            <a:endParaRPr lang="en-IN" dirty="0">
              <a:latin typeface="Agency FB" panose="020B0503020202020204" pitchFamily="34" charset="0"/>
            </a:endParaRPr>
          </a:p>
        </p:txBody>
      </p:sp>
      <p:sp>
        <p:nvSpPr>
          <p:cNvPr id="4" name="TextBox 3">
            <a:extLst>
              <a:ext uri="{FF2B5EF4-FFF2-40B4-BE49-F238E27FC236}">
                <a16:creationId xmlns:a16="http://schemas.microsoft.com/office/drawing/2014/main" id="{FE64DC56-2E2A-7CCA-C91E-0B477F76C705}"/>
              </a:ext>
            </a:extLst>
          </p:cNvPr>
          <p:cNvSpPr txBox="1"/>
          <p:nvPr/>
        </p:nvSpPr>
        <p:spPr>
          <a:xfrm>
            <a:off x="68826" y="6081526"/>
            <a:ext cx="12044516" cy="646331"/>
          </a:xfrm>
          <a:prstGeom prst="rect">
            <a:avLst/>
          </a:prstGeom>
          <a:noFill/>
        </p:spPr>
        <p:txBody>
          <a:bodyPr wrap="square" rtlCol="0">
            <a:spAutoFit/>
          </a:bodyPr>
          <a:lstStyle/>
          <a:p>
            <a:r>
              <a:rPr lang="en-US" b="1" dirty="0"/>
              <a:t>Action Required: </a:t>
            </a:r>
            <a:r>
              <a:rPr lang="en-US" sz="1600" dirty="0">
                <a:latin typeface="Bahnschrift SemiBold SemiConden" panose="020B0502040204020203" pitchFamily="34" charset="0"/>
              </a:rPr>
              <a:t>The 2023 revenue decline demands immediate analysis to identify root causes—whether market-driven, operational, or competitive—and develop recovery strategies</a:t>
            </a:r>
            <a:r>
              <a:rPr lang="en-US" dirty="0"/>
              <a:t>.</a:t>
            </a:r>
            <a:endParaRPr lang="en-IN" dirty="0"/>
          </a:p>
        </p:txBody>
      </p:sp>
    </p:spTree>
    <p:extLst>
      <p:ext uri="{BB962C8B-B14F-4D97-AF65-F5344CB8AC3E}">
        <p14:creationId xmlns:p14="http://schemas.microsoft.com/office/powerpoint/2010/main" val="1619269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1016-5626-A6D4-8502-0DA7667DA362}"/>
              </a:ext>
            </a:extLst>
          </p:cNvPr>
          <p:cNvSpPr>
            <a:spLocks noGrp="1"/>
          </p:cNvSpPr>
          <p:nvPr>
            <p:ph type="title"/>
          </p:nvPr>
        </p:nvSpPr>
        <p:spPr>
          <a:xfrm>
            <a:off x="3153697" y="36786"/>
            <a:ext cx="9038303" cy="1293028"/>
          </a:xfrm>
        </p:spPr>
        <p:txBody>
          <a:bodyPr>
            <a:normAutofit fontScale="90000"/>
          </a:bodyPr>
          <a:lstStyle/>
          <a:p>
            <a:r>
              <a:rPr lang="en-IN" dirty="0">
                <a:latin typeface="Cooper Black" panose="0208090404030B020404" pitchFamily="18" charset="0"/>
              </a:rPr>
              <a:t>Strategic Recommendations &amp; Conclusion</a:t>
            </a:r>
          </a:p>
        </p:txBody>
      </p:sp>
      <p:pic>
        <p:nvPicPr>
          <p:cNvPr id="1026" name="Picture 2" descr="54+ Thousand Analyst Meeting Royalty-Free Images, Stock Photos &amp; Pictures |  Shutterstock">
            <a:extLst>
              <a:ext uri="{FF2B5EF4-FFF2-40B4-BE49-F238E27FC236}">
                <a16:creationId xmlns:a16="http://schemas.microsoft.com/office/drawing/2014/main" id="{AA1F7BB3-B80F-CB89-663E-98F5B5C431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3148" y="1329814"/>
            <a:ext cx="5545393" cy="36748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77E199-9966-2C25-FD27-5B3FB6C41B93}"/>
              </a:ext>
            </a:extLst>
          </p:cNvPr>
          <p:cNvSpPr txBox="1"/>
          <p:nvPr/>
        </p:nvSpPr>
        <p:spPr>
          <a:xfrm>
            <a:off x="0" y="773070"/>
            <a:ext cx="2507225" cy="400110"/>
          </a:xfrm>
          <a:prstGeom prst="rect">
            <a:avLst/>
          </a:prstGeom>
          <a:noFill/>
        </p:spPr>
        <p:txBody>
          <a:bodyPr wrap="square" rtlCol="0">
            <a:spAutoFit/>
          </a:bodyPr>
          <a:lstStyle/>
          <a:p>
            <a:r>
              <a:rPr lang="en-IN" sz="2000" b="1" dirty="0"/>
              <a:t>Key Action Items</a:t>
            </a:r>
          </a:p>
        </p:txBody>
      </p:sp>
      <p:sp>
        <p:nvSpPr>
          <p:cNvPr id="5" name="TextBox 4">
            <a:extLst>
              <a:ext uri="{FF2B5EF4-FFF2-40B4-BE49-F238E27FC236}">
                <a16:creationId xmlns:a16="http://schemas.microsoft.com/office/drawing/2014/main" id="{0807264D-ABE9-6579-E26A-602619E981A4}"/>
              </a:ext>
            </a:extLst>
          </p:cNvPr>
          <p:cNvSpPr txBox="1"/>
          <p:nvPr/>
        </p:nvSpPr>
        <p:spPr>
          <a:xfrm>
            <a:off x="98321" y="1465902"/>
            <a:ext cx="5732209" cy="5355312"/>
          </a:xfrm>
          <a:prstGeom prst="rect">
            <a:avLst/>
          </a:prstGeom>
          <a:noFill/>
        </p:spPr>
        <p:txBody>
          <a:bodyPr wrap="square" rtlCol="0">
            <a:spAutoFit/>
          </a:bodyPr>
          <a:lstStyle/>
          <a:p>
            <a:r>
              <a:rPr lang="en-US" sz="3600" b="1" dirty="0"/>
              <a:t>1</a:t>
            </a:r>
            <a:r>
              <a:rPr lang="en-US" dirty="0"/>
              <a:t> </a:t>
            </a:r>
            <a:r>
              <a:rPr lang="en-US" b="1" dirty="0"/>
              <a:t>Target High-Value Segments:</a:t>
            </a:r>
            <a:r>
              <a:rPr lang="en-US" dirty="0"/>
              <a:t> 			</a:t>
            </a:r>
          </a:p>
          <a:p>
            <a:r>
              <a:rPr lang="en-US" dirty="0">
                <a:latin typeface="Bahnschrift Light Condensed" panose="020B0502040204020203" pitchFamily="34" charset="0"/>
              </a:rPr>
              <a:t>	Focus marketing on age 46–60 and 	female 	customers who drive the most revenue</a:t>
            </a:r>
          </a:p>
          <a:p>
            <a:r>
              <a:rPr lang="en-US" sz="3600" b="1" dirty="0"/>
              <a:t>2</a:t>
            </a:r>
            <a:r>
              <a:rPr lang="en-US" dirty="0"/>
              <a:t> </a:t>
            </a:r>
            <a:r>
              <a:rPr lang="en-US" b="1" dirty="0"/>
              <a:t>Accelerate Digital Payments :</a:t>
            </a:r>
          </a:p>
          <a:p>
            <a:r>
              <a:rPr lang="en-US" b="1" dirty="0"/>
              <a:t>	</a:t>
            </a:r>
            <a:r>
              <a:rPr lang="en-US" dirty="0">
                <a:latin typeface="Bahnschrift Light Condensed" panose="020B0502040204020203" pitchFamily="34" charset="0"/>
              </a:rPr>
              <a:t>Implement incentives to shift customers from cash to credit/debit cards</a:t>
            </a:r>
          </a:p>
          <a:p>
            <a:r>
              <a:rPr lang="en-US" sz="3600" b="1" dirty="0"/>
              <a:t>3</a:t>
            </a:r>
            <a:r>
              <a:rPr lang="en-US" dirty="0"/>
              <a:t> </a:t>
            </a:r>
            <a:r>
              <a:rPr lang="en-US" b="1" dirty="0"/>
              <a:t>Revitalize Weak Categories :</a:t>
            </a:r>
          </a:p>
          <a:p>
            <a:r>
              <a:rPr lang="en-US" b="1" dirty="0"/>
              <a:t>	</a:t>
            </a:r>
            <a:r>
              <a:rPr lang="en-US" dirty="0">
                <a:latin typeface="Bahnschrift Light Condensed" panose="020B0502040204020203" pitchFamily="34" charset="0"/>
              </a:rPr>
              <a:t>Develop targeted campaigns for Books, Souvenirs, Food &amp; Beverage, and Toys </a:t>
            </a:r>
          </a:p>
          <a:p>
            <a:r>
              <a:rPr lang="en-US" sz="3600" b="1" dirty="0"/>
              <a:t>4</a:t>
            </a:r>
            <a:r>
              <a:rPr lang="en-US" dirty="0"/>
              <a:t> </a:t>
            </a:r>
            <a:r>
              <a:rPr lang="en-US" b="1" dirty="0"/>
              <a:t>Optimize Store Portfolio :</a:t>
            </a:r>
          </a:p>
          <a:p>
            <a:r>
              <a:rPr lang="en-US" dirty="0">
                <a:latin typeface="Bahnschrift Light Condensed" panose="020B0502040204020203" pitchFamily="34" charset="0"/>
              </a:rPr>
              <a:t>Replicate success factors from top malls; consider restructuring underperformers</a:t>
            </a:r>
          </a:p>
          <a:p>
            <a:r>
              <a:rPr lang="en-US" sz="3600" b="1" dirty="0"/>
              <a:t>5</a:t>
            </a:r>
            <a:r>
              <a:rPr lang="en-US" dirty="0"/>
              <a:t> </a:t>
            </a:r>
            <a:r>
              <a:rPr lang="en-US" b="1" dirty="0"/>
              <a:t>Investigate 2023 Decline:</a:t>
            </a:r>
          </a:p>
          <a:p>
            <a:r>
              <a:rPr lang="en-US" b="1" dirty="0">
                <a:latin typeface="Bahnschrift Light Condensed" panose="020B0502040204020203" pitchFamily="34" charset="0"/>
              </a:rPr>
              <a:t> </a:t>
            </a:r>
            <a:r>
              <a:rPr lang="en-US" dirty="0">
                <a:latin typeface="Bahnschrift Light Condensed" panose="020B0502040204020203" pitchFamily="34" charset="0"/>
              </a:rPr>
              <a:t>Conduct deep-dive analysis to understand and reverse the revenue drop </a:t>
            </a:r>
            <a:endParaRPr lang="en-IN" dirty="0">
              <a:latin typeface="Bahnschrift Light Condensed" panose="020B0502040204020203" pitchFamily="34" charset="0"/>
            </a:endParaRPr>
          </a:p>
        </p:txBody>
      </p:sp>
      <p:sp>
        <p:nvSpPr>
          <p:cNvPr id="6" name="TextBox 5">
            <a:extLst>
              <a:ext uri="{FF2B5EF4-FFF2-40B4-BE49-F238E27FC236}">
                <a16:creationId xmlns:a16="http://schemas.microsoft.com/office/drawing/2014/main" id="{6CF3B329-7EDC-4D70-36F6-240C3078DC21}"/>
              </a:ext>
            </a:extLst>
          </p:cNvPr>
          <p:cNvSpPr txBox="1"/>
          <p:nvPr/>
        </p:nvSpPr>
        <p:spPr>
          <a:xfrm>
            <a:off x="6154995" y="5122607"/>
            <a:ext cx="5938684" cy="1631216"/>
          </a:xfrm>
          <a:prstGeom prst="rect">
            <a:avLst/>
          </a:prstGeom>
          <a:noFill/>
        </p:spPr>
        <p:txBody>
          <a:bodyPr wrap="square" rtlCol="0">
            <a:spAutoFit/>
          </a:bodyPr>
          <a:lstStyle/>
          <a:p>
            <a:r>
              <a:rPr lang="en-US" sz="2400" b="1" dirty="0">
                <a:latin typeface="Bahnschrift Light Condensed" panose="020B0502040204020203" pitchFamily="34" charset="0"/>
              </a:rPr>
              <a:t>Project Impact </a:t>
            </a:r>
            <a:r>
              <a:rPr lang="en-US" sz="2800" b="1" dirty="0">
                <a:latin typeface="Bahnschrift Light Condensed" panose="020B0502040204020203" pitchFamily="34" charset="0"/>
              </a:rPr>
              <a:t>:</a:t>
            </a:r>
            <a:r>
              <a:rPr lang="en-US" dirty="0">
                <a:latin typeface="Bahnschrift Light Condensed" panose="020B0502040204020203" pitchFamily="34" charset="0"/>
              </a:rPr>
              <a:t>This analysis demonstrates the power of combining MySQL and Power BI to transform raw transactional data into strategic business intelligence. By uncovering patterns in customer behavior, product performance, and sales trends, we've provided a data-driven foundation for revenue optimization and operational excellence.</a:t>
            </a:r>
            <a:endParaRPr lang="en-IN" dirty="0">
              <a:latin typeface="Bahnschrift Light Condensed" panose="020B0502040204020203" pitchFamily="34" charset="0"/>
            </a:endParaRPr>
          </a:p>
        </p:txBody>
      </p:sp>
    </p:spTree>
    <p:extLst>
      <p:ext uri="{BB962C8B-B14F-4D97-AF65-F5344CB8AC3E}">
        <p14:creationId xmlns:p14="http://schemas.microsoft.com/office/powerpoint/2010/main" val="2469436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op 10 Speech Recognition PowerPoint Presentation Templates in 2026">
            <a:extLst>
              <a:ext uri="{FF2B5EF4-FFF2-40B4-BE49-F238E27FC236}">
                <a16:creationId xmlns:a16="http://schemas.microsoft.com/office/drawing/2014/main" id="{7FEA8C62-B570-07EB-86B2-C51F3B4646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956710"/>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129</TotalTime>
  <Words>947</Words>
  <Application>Microsoft Office PowerPoint</Application>
  <PresentationFormat>Widescreen</PresentationFormat>
  <Paragraphs>101</Paragraphs>
  <Slides>12</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Agency FB</vt:lpstr>
      <vt:lpstr>Algerian</vt:lpstr>
      <vt:lpstr>Arial</vt:lpstr>
      <vt:lpstr>Arial Black</vt:lpstr>
      <vt:lpstr>Arial Narrow</vt:lpstr>
      <vt:lpstr>Bahnschrift</vt:lpstr>
      <vt:lpstr>Bahnschrift Light Condensed</vt:lpstr>
      <vt:lpstr>Bahnschrift SemiBold SemiConden</vt:lpstr>
      <vt:lpstr>Calibri</vt:lpstr>
      <vt:lpstr>Century Gothic</vt:lpstr>
      <vt:lpstr>Cooper Black</vt:lpstr>
      <vt:lpstr>Monotype Corsiva</vt:lpstr>
      <vt:lpstr>Vapor Trail</vt:lpstr>
      <vt:lpstr>PowerPoint Presentation</vt:lpstr>
      <vt:lpstr>Customer Data Analysis Dashboard</vt:lpstr>
      <vt:lpstr>Project overview</vt:lpstr>
      <vt:lpstr>Dataset Architecture </vt:lpstr>
      <vt:lpstr>Key Performance Indicators </vt:lpstr>
      <vt:lpstr>Customer Insights</vt:lpstr>
      <vt:lpstr>Category Insights</vt:lpstr>
      <vt:lpstr>Shopping mall Insights</vt:lpstr>
      <vt:lpstr>Payment Method Insights</vt:lpstr>
      <vt:lpstr>Revenue Trends Over Time</vt:lpstr>
      <vt:lpstr>Strategic Recommendations &amp;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 Devanal</dc:creator>
  <cp:lastModifiedBy>Rajesh Devanal</cp:lastModifiedBy>
  <cp:revision>4</cp:revision>
  <dcterms:created xsi:type="dcterms:W3CDTF">2025-12-02T10:26:29Z</dcterms:created>
  <dcterms:modified xsi:type="dcterms:W3CDTF">2025-12-03T07:42:56Z</dcterms:modified>
</cp:coreProperties>
</file>